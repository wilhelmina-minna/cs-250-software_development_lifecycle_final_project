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1" r:id="rId4"/>
    <p:sldId id="262" r:id="rId5"/>
    <p:sldId id="263" r:id="rId6"/>
    <p:sldId id="258" r:id="rId7"/>
    <p:sldId id="264" r:id="rId8"/>
    <p:sldId id="265" r:id="rId9"/>
    <p:sldId id="266" r:id="rId10"/>
    <p:sldId id="259" r:id="rId11"/>
    <p:sldId id="267" r:id="rId12"/>
    <p:sldId id="260" r:id="rId13"/>
    <p:sldId id="270" r:id="rId14"/>
    <p:sldId id="269" r:id="rId15"/>
    <p:sldId id="271" r:id="rId16"/>
    <p:sldId id="272" r:id="rId17"/>
    <p:sldId id="26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0" autoAdjust="0"/>
    <p:restoredTop sz="94660"/>
  </p:normalViewPr>
  <p:slideViewPr>
    <p:cSldViewPr snapToGrid="0">
      <p:cViewPr varScale="1">
        <p:scale>
          <a:sx n="75" d="100"/>
          <a:sy n="75" d="100"/>
        </p:scale>
        <p:origin x="547" y="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0E056-AD35-CC02-6309-C6068337465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D76C0FF-FFDA-7242-01BB-D02876EDA9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FEDB2D7-5922-69E1-2541-1A4316607672}"/>
              </a:ext>
            </a:extLst>
          </p:cNvPr>
          <p:cNvSpPr>
            <a:spLocks noGrp="1"/>
          </p:cNvSpPr>
          <p:nvPr>
            <p:ph type="dt" sz="half" idx="10"/>
          </p:nvPr>
        </p:nvSpPr>
        <p:spPr/>
        <p:txBody>
          <a:bodyPr/>
          <a:lstStyle/>
          <a:p>
            <a:fld id="{E3D0ECED-9659-434A-A03A-004F19DB4044}" type="datetimeFigureOut">
              <a:rPr lang="en-US" smtClean="0"/>
              <a:t>2/21/2026</a:t>
            </a:fld>
            <a:endParaRPr lang="en-US" dirty="0"/>
          </a:p>
        </p:txBody>
      </p:sp>
      <p:sp>
        <p:nvSpPr>
          <p:cNvPr id="5" name="Footer Placeholder 4">
            <a:extLst>
              <a:ext uri="{FF2B5EF4-FFF2-40B4-BE49-F238E27FC236}">
                <a16:creationId xmlns:a16="http://schemas.microsoft.com/office/drawing/2014/main" id="{29C95713-730D-AF98-5ECF-B23B4DD565F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850AB5-AF9C-795C-6C10-482B5A28DC8E}"/>
              </a:ext>
            </a:extLst>
          </p:cNvPr>
          <p:cNvSpPr>
            <a:spLocks noGrp="1"/>
          </p:cNvSpPr>
          <p:nvPr>
            <p:ph type="sldNum" sz="quarter" idx="12"/>
          </p:nvPr>
        </p:nvSpPr>
        <p:spPr/>
        <p:txBody>
          <a:bodyPr/>
          <a:lstStyle/>
          <a:p>
            <a:fld id="{9A9B497E-2026-4F5E-A88E-228BD1653E2D}" type="slidenum">
              <a:rPr lang="en-US" smtClean="0"/>
              <a:t>‹#›</a:t>
            </a:fld>
            <a:endParaRPr lang="en-US" dirty="0"/>
          </a:p>
        </p:txBody>
      </p:sp>
    </p:spTree>
    <p:extLst>
      <p:ext uri="{BB962C8B-B14F-4D97-AF65-F5344CB8AC3E}">
        <p14:creationId xmlns:p14="http://schemas.microsoft.com/office/powerpoint/2010/main" val="80513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00B1D-85FE-8591-B61C-3A40106C09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060A11-C0FB-144E-CE1E-1EC0158C756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C9634B-76F4-B914-0C07-E6560535C2F2}"/>
              </a:ext>
            </a:extLst>
          </p:cNvPr>
          <p:cNvSpPr>
            <a:spLocks noGrp="1"/>
          </p:cNvSpPr>
          <p:nvPr>
            <p:ph type="dt" sz="half" idx="10"/>
          </p:nvPr>
        </p:nvSpPr>
        <p:spPr/>
        <p:txBody>
          <a:bodyPr/>
          <a:lstStyle/>
          <a:p>
            <a:fld id="{E3D0ECED-9659-434A-A03A-004F19DB4044}" type="datetimeFigureOut">
              <a:rPr lang="en-US" smtClean="0"/>
              <a:t>2/21/2026</a:t>
            </a:fld>
            <a:endParaRPr lang="en-US" dirty="0"/>
          </a:p>
        </p:txBody>
      </p:sp>
      <p:sp>
        <p:nvSpPr>
          <p:cNvPr id="5" name="Footer Placeholder 4">
            <a:extLst>
              <a:ext uri="{FF2B5EF4-FFF2-40B4-BE49-F238E27FC236}">
                <a16:creationId xmlns:a16="http://schemas.microsoft.com/office/drawing/2014/main" id="{E02B6DDB-445B-522D-C73D-5C585DA62E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97FE8D9-AC15-2D64-A9A8-F00D411D8107}"/>
              </a:ext>
            </a:extLst>
          </p:cNvPr>
          <p:cNvSpPr>
            <a:spLocks noGrp="1"/>
          </p:cNvSpPr>
          <p:nvPr>
            <p:ph type="sldNum" sz="quarter" idx="12"/>
          </p:nvPr>
        </p:nvSpPr>
        <p:spPr/>
        <p:txBody>
          <a:bodyPr/>
          <a:lstStyle/>
          <a:p>
            <a:fld id="{9A9B497E-2026-4F5E-A88E-228BD1653E2D}" type="slidenum">
              <a:rPr lang="en-US" smtClean="0"/>
              <a:t>‹#›</a:t>
            </a:fld>
            <a:endParaRPr lang="en-US" dirty="0"/>
          </a:p>
        </p:txBody>
      </p:sp>
    </p:spTree>
    <p:extLst>
      <p:ext uri="{BB962C8B-B14F-4D97-AF65-F5344CB8AC3E}">
        <p14:creationId xmlns:p14="http://schemas.microsoft.com/office/powerpoint/2010/main" val="3519047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E02B3-5623-CB8F-7FB0-DED7C50FC1C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94854CB-1476-4B62-7C43-FEDD98BE7CF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8BCC594-99CB-AB42-E41D-117D7AADB1D7}"/>
              </a:ext>
            </a:extLst>
          </p:cNvPr>
          <p:cNvSpPr>
            <a:spLocks noGrp="1"/>
          </p:cNvSpPr>
          <p:nvPr>
            <p:ph type="dt" sz="half" idx="10"/>
          </p:nvPr>
        </p:nvSpPr>
        <p:spPr/>
        <p:txBody>
          <a:bodyPr/>
          <a:lstStyle/>
          <a:p>
            <a:fld id="{E3D0ECED-9659-434A-A03A-004F19DB4044}" type="datetimeFigureOut">
              <a:rPr lang="en-US" smtClean="0"/>
              <a:t>2/21/2026</a:t>
            </a:fld>
            <a:endParaRPr lang="en-US" dirty="0"/>
          </a:p>
        </p:txBody>
      </p:sp>
      <p:sp>
        <p:nvSpPr>
          <p:cNvPr id="5" name="Footer Placeholder 4">
            <a:extLst>
              <a:ext uri="{FF2B5EF4-FFF2-40B4-BE49-F238E27FC236}">
                <a16:creationId xmlns:a16="http://schemas.microsoft.com/office/drawing/2014/main" id="{DCE85B80-87DD-5A00-AD0B-A946C9EABCC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9E9818C-7DCC-6D45-1FD2-6BDC71959076}"/>
              </a:ext>
            </a:extLst>
          </p:cNvPr>
          <p:cNvSpPr>
            <a:spLocks noGrp="1"/>
          </p:cNvSpPr>
          <p:nvPr>
            <p:ph type="sldNum" sz="quarter" idx="12"/>
          </p:nvPr>
        </p:nvSpPr>
        <p:spPr/>
        <p:txBody>
          <a:bodyPr/>
          <a:lstStyle/>
          <a:p>
            <a:fld id="{9A9B497E-2026-4F5E-A88E-228BD1653E2D}" type="slidenum">
              <a:rPr lang="en-US" smtClean="0"/>
              <a:t>‹#›</a:t>
            </a:fld>
            <a:endParaRPr lang="en-US" dirty="0"/>
          </a:p>
        </p:txBody>
      </p:sp>
    </p:spTree>
    <p:extLst>
      <p:ext uri="{BB962C8B-B14F-4D97-AF65-F5344CB8AC3E}">
        <p14:creationId xmlns:p14="http://schemas.microsoft.com/office/powerpoint/2010/main" val="7431620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D16A8-4D3A-B4DF-7EE9-0023FD96D18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8910EA-22EE-5C41-E08E-BFBCAA282B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E99DA5A-838B-5AFA-270A-F8D75136469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B7FD4CD-87DC-7DA8-A2FA-FFF9B1961556}"/>
              </a:ext>
            </a:extLst>
          </p:cNvPr>
          <p:cNvSpPr>
            <a:spLocks noGrp="1"/>
          </p:cNvSpPr>
          <p:nvPr>
            <p:ph type="dt" sz="half" idx="10"/>
          </p:nvPr>
        </p:nvSpPr>
        <p:spPr/>
        <p:txBody>
          <a:bodyPr/>
          <a:lstStyle/>
          <a:p>
            <a:fld id="{E3D0ECED-9659-434A-A03A-004F19DB4044}" type="datetimeFigureOut">
              <a:rPr lang="en-US" smtClean="0"/>
              <a:t>2/21/2026</a:t>
            </a:fld>
            <a:endParaRPr lang="en-US" dirty="0"/>
          </a:p>
        </p:txBody>
      </p:sp>
      <p:sp>
        <p:nvSpPr>
          <p:cNvPr id="6" name="Footer Placeholder 5">
            <a:extLst>
              <a:ext uri="{FF2B5EF4-FFF2-40B4-BE49-F238E27FC236}">
                <a16:creationId xmlns:a16="http://schemas.microsoft.com/office/drawing/2014/main" id="{562D76A9-6621-675F-0C44-F0A8BF2C6B4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51F356B-9669-15D7-7564-32BEF9DA95DB}"/>
              </a:ext>
            </a:extLst>
          </p:cNvPr>
          <p:cNvSpPr>
            <a:spLocks noGrp="1"/>
          </p:cNvSpPr>
          <p:nvPr>
            <p:ph type="sldNum" sz="quarter" idx="12"/>
          </p:nvPr>
        </p:nvSpPr>
        <p:spPr/>
        <p:txBody>
          <a:bodyPr/>
          <a:lstStyle/>
          <a:p>
            <a:fld id="{9A9B497E-2026-4F5E-A88E-228BD1653E2D}" type="slidenum">
              <a:rPr lang="en-US" smtClean="0"/>
              <a:t>‹#›</a:t>
            </a:fld>
            <a:endParaRPr lang="en-US" dirty="0"/>
          </a:p>
        </p:txBody>
      </p:sp>
    </p:spTree>
    <p:extLst>
      <p:ext uri="{BB962C8B-B14F-4D97-AF65-F5344CB8AC3E}">
        <p14:creationId xmlns:p14="http://schemas.microsoft.com/office/powerpoint/2010/main" val="2995446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39771-0F3B-5C51-492E-C4DBEB2307F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58C1641-B433-6403-497E-55435013E4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265B8C-1827-F64D-2BAE-32619B8CDF4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DBD87CC-A5D2-FCF7-C14B-4F36F2B7A6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BB2D0A-A069-5CBB-2F22-105CF8E984A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C787C3-212D-F663-BBB9-4C1CFCEB87E7}"/>
              </a:ext>
            </a:extLst>
          </p:cNvPr>
          <p:cNvSpPr>
            <a:spLocks noGrp="1"/>
          </p:cNvSpPr>
          <p:nvPr>
            <p:ph type="dt" sz="half" idx="10"/>
          </p:nvPr>
        </p:nvSpPr>
        <p:spPr/>
        <p:txBody>
          <a:bodyPr/>
          <a:lstStyle/>
          <a:p>
            <a:fld id="{E3D0ECED-9659-434A-A03A-004F19DB4044}" type="datetimeFigureOut">
              <a:rPr lang="en-US" smtClean="0"/>
              <a:t>2/21/2026</a:t>
            </a:fld>
            <a:endParaRPr lang="en-US" dirty="0"/>
          </a:p>
        </p:txBody>
      </p:sp>
      <p:sp>
        <p:nvSpPr>
          <p:cNvPr id="8" name="Footer Placeholder 7">
            <a:extLst>
              <a:ext uri="{FF2B5EF4-FFF2-40B4-BE49-F238E27FC236}">
                <a16:creationId xmlns:a16="http://schemas.microsoft.com/office/drawing/2014/main" id="{92FF427D-3EEE-9B26-7967-1C716B7D877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A4C4948-8690-8A0A-6C84-7099A8C4C259}"/>
              </a:ext>
            </a:extLst>
          </p:cNvPr>
          <p:cNvSpPr>
            <a:spLocks noGrp="1"/>
          </p:cNvSpPr>
          <p:nvPr>
            <p:ph type="sldNum" sz="quarter" idx="12"/>
          </p:nvPr>
        </p:nvSpPr>
        <p:spPr/>
        <p:txBody>
          <a:bodyPr/>
          <a:lstStyle/>
          <a:p>
            <a:fld id="{9A9B497E-2026-4F5E-A88E-228BD1653E2D}" type="slidenum">
              <a:rPr lang="en-US" smtClean="0"/>
              <a:t>‹#›</a:t>
            </a:fld>
            <a:endParaRPr lang="en-US" dirty="0"/>
          </a:p>
        </p:txBody>
      </p:sp>
    </p:spTree>
    <p:extLst>
      <p:ext uri="{BB962C8B-B14F-4D97-AF65-F5344CB8AC3E}">
        <p14:creationId xmlns:p14="http://schemas.microsoft.com/office/powerpoint/2010/main" val="36018406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0D0CE-2E70-EFFC-F28F-1544D215151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AF2220E-7591-53FF-2B45-E4548DAF4B56}"/>
              </a:ext>
            </a:extLst>
          </p:cNvPr>
          <p:cNvSpPr>
            <a:spLocks noGrp="1"/>
          </p:cNvSpPr>
          <p:nvPr>
            <p:ph type="dt" sz="half" idx="10"/>
          </p:nvPr>
        </p:nvSpPr>
        <p:spPr/>
        <p:txBody>
          <a:bodyPr/>
          <a:lstStyle/>
          <a:p>
            <a:fld id="{E3D0ECED-9659-434A-A03A-004F19DB4044}" type="datetimeFigureOut">
              <a:rPr lang="en-US" smtClean="0"/>
              <a:t>2/21/2026</a:t>
            </a:fld>
            <a:endParaRPr lang="en-US" dirty="0"/>
          </a:p>
        </p:txBody>
      </p:sp>
      <p:sp>
        <p:nvSpPr>
          <p:cNvPr id="4" name="Footer Placeholder 3">
            <a:extLst>
              <a:ext uri="{FF2B5EF4-FFF2-40B4-BE49-F238E27FC236}">
                <a16:creationId xmlns:a16="http://schemas.microsoft.com/office/drawing/2014/main" id="{8DA5A2E4-6170-AF0D-8767-319505907217}"/>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E926F33-44F7-CB16-6049-9C52C80F49A3}"/>
              </a:ext>
            </a:extLst>
          </p:cNvPr>
          <p:cNvSpPr>
            <a:spLocks noGrp="1"/>
          </p:cNvSpPr>
          <p:nvPr>
            <p:ph type="sldNum" sz="quarter" idx="12"/>
          </p:nvPr>
        </p:nvSpPr>
        <p:spPr/>
        <p:txBody>
          <a:bodyPr/>
          <a:lstStyle/>
          <a:p>
            <a:fld id="{9A9B497E-2026-4F5E-A88E-228BD1653E2D}" type="slidenum">
              <a:rPr lang="en-US" smtClean="0"/>
              <a:t>‹#›</a:t>
            </a:fld>
            <a:endParaRPr lang="en-US" dirty="0"/>
          </a:p>
        </p:txBody>
      </p:sp>
    </p:spTree>
    <p:extLst>
      <p:ext uri="{BB962C8B-B14F-4D97-AF65-F5344CB8AC3E}">
        <p14:creationId xmlns:p14="http://schemas.microsoft.com/office/powerpoint/2010/main" val="40049163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6F8CA-4712-7804-C849-0FCBC2A3900C}"/>
              </a:ext>
            </a:extLst>
          </p:cNvPr>
          <p:cNvSpPr>
            <a:spLocks noGrp="1"/>
          </p:cNvSpPr>
          <p:nvPr>
            <p:ph type="dt" sz="half" idx="10"/>
          </p:nvPr>
        </p:nvSpPr>
        <p:spPr/>
        <p:txBody>
          <a:bodyPr/>
          <a:lstStyle/>
          <a:p>
            <a:fld id="{E3D0ECED-9659-434A-A03A-004F19DB4044}" type="datetimeFigureOut">
              <a:rPr lang="en-US" smtClean="0"/>
              <a:t>2/21/2026</a:t>
            </a:fld>
            <a:endParaRPr lang="en-US" dirty="0"/>
          </a:p>
        </p:txBody>
      </p:sp>
      <p:sp>
        <p:nvSpPr>
          <p:cNvPr id="3" name="Footer Placeholder 2">
            <a:extLst>
              <a:ext uri="{FF2B5EF4-FFF2-40B4-BE49-F238E27FC236}">
                <a16:creationId xmlns:a16="http://schemas.microsoft.com/office/drawing/2014/main" id="{F23B767D-D9D1-4FD4-C35F-B3CCC0C48533}"/>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6BBDC569-47FB-049D-217E-A857EBF68E21}"/>
              </a:ext>
            </a:extLst>
          </p:cNvPr>
          <p:cNvSpPr>
            <a:spLocks noGrp="1"/>
          </p:cNvSpPr>
          <p:nvPr>
            <p:ph type="sldNum" sz="quarter" idx="12"/>
          </p:nvPr>
        </p:nvSpPr>
        <p:spPr/>
        <p:txBody>
          <a:bodyPr/>
          <a:lstStyle/>
          <a:p>
            <a:fld id="{9A9B497E-2026-4F5E-A88E-228BD1653E2D}" type="slidenum">
              <a:rPr lang="en-US" smtClean="0"/>
              <a:t>‹#›</a:t>
            </a:fld>
            <a:endParaRPr lang="en-US" dirty="0"/>
          </a:p>
        </p:txBody>
      </p:sp>
    </p:spTree>
    <p:extLst>
      <p:ext uri="{BB962C8B-B14F-4D97-AF65-F5344CB8AC3E}">
        <p14:creationId xmlns:p14="http://schemas.microsoft.com/office/powerpoint/2010/main" val="25106919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72770-205C-6BB2-BAAF-07A9D73206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4BE451E-5705-2916-9BF2-224E9238B0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85726B7-6318-4948-F44C-92493CE455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4F9275-896D-D664-9F7D-8FB2371F2DA6}"/>
              </a:ext>
            </a:extLst>
          </p:cNvPr>
          <p:cNvSpPr>
            <a:spLocks noGrp="1"/>
          </p:cNvSpPr>
          <p:nvPr>
            <p:ph type="dt" sz="half" idx="10"/>
          </p:nvPr>
        </p:nvSpPr>
        <p:spPr/>
        <p:txBody>
          <a:bodyPr/>
          <a:lstStyle/>
          <a:p>
            <a:fld id="{E3D0ECED-9659-434A-A03A-004F19DB4044}" type="datetimeFigureOut">
              <a:rPr lang="en-US" smtClean="0"/>
              <a:t>2/21/2026</a:t>
            </a:fld>
            <a:endParaRPr lang="en-US" dirty="0"/>
          </a:p>
        </p:txBody>
      </p:sp>
      <p:sp>
        <p:nvSpPr>
          <p:cNvPr id="6" name="Footer Placeholder 5">
            <a:extLst>
              <a:ext uri="{FF2B5EF4-FFF2-40B4-BE49-F238E27FC236}">
                <a16:creationId xmlns:a16="http://schemas.microsoft.com/office/drawing/2014/main" id="{D8950160-8D3B-1A20-287B-A82933AACBC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C9C8FDA-E6CE-A7A2-C27B-7C66D156204D}"/>
              </a:ext>
            </a:extLst>
          </p:cNvPr>
          <p:cNvSpPr>
            <a:spLocks noGrp="1"/>
          </p:cNvSpPr>
          <p:nvPr>
            <p:ph type="sldNum" sz="quarter" idx="12"/>
          </p:nvPr>
        </p:nvSpPr>
        <p:spPr/>
        <p:txBody>
          <a:bodyPr/>
          <a:lstStyle/>
          <a:p>
            <a:fld id="{9A9B497E-2026-4F5E-A88E-228BD1653E2D}" type="slidenum">
              <a:rPr lang="en-US" smtClean="0"/>
              <a:t>‹#›</a:t>
            </a:fld>
            <a:endParaRPr lang="en-US" dirty="0"/>
          </a:p>
        </p:txBody>
      </p:sp>
    </p:spTree>
    <p:extLst>
      <p:ext uri="{BB962C8B-B14F-4D97-AF65-F5344CB8AC3E}">
        <p14:creationId xmlns:p14="http://schemas.microsoft.com/office/powerpoint/2010/main" val="1013528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DCB25-F7F6-B107-BE8E-7A95517E67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2306229-6C6F-981B-0B62-A3039120F3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A95AAEEE-CF0E-C341-16C6-08B0965817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2FA930-AD80-9E49-76BC-DD3FF7847B47}"/>
              </a:ext>
            </a:extLst>
          </p:cNvPr>
          <p:cNvSpPr>
            <a:spLocks noGrp="1"/>
          </p:cNvSpPr>
          <p:nvPr>
            <p:ph type="dt" sz="half" idx="10"/>
          </p:nvPr>
        </p:nvSpPr>
        <p:spPr/>
        <p:txBody>
          <a:bodyPr/>
          <a:lstStyle/>
          <a:p>
            <a:fld id="{E3D0ECED-9659-434A-A03A-004F19DB4044}" type="datetimeFigureOut">
              <a:rPr lang="en-US" smtClean="0"/>
              <a:t>2/21/2026</a:t>
            </a:fld>
            <a:endParaRPr lang="en-US" dirty="0"/>
          </a:p>
        </p:txBody>
      </p:sp>
      <p:sp>
        <p:nvSpPr>
          <p:cNvPr id="6" name="Footer Placeholder 5">
            <a:extLst>
              <a:ext uri="{FF2B5EF4-FFF2-40B4-BE49-F238E27FC236}">
                <a16:creationId xmlns:a16="http://schemas.microsoft.com/office/drawing/2014/main" id="{72A4E36C-B08E-2C60-414E-E1960094EEA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051C81A-64F4-D49A-D7DC-DD21948DA8FC}"/>
              </a:ext>
            </a:extLst>
          </p:cNvPr>
          <p:cNvSpPr>
            <a:spLocks noGrp="1"/>
          </p:cNvSpPr>
          <p:nvPr>
            <p:ph type="sldNum" sz="quarter" idx="12"/>
          </p:nvPr>
        </p:nvSpPr>
        <p:spPr/>
        <p:txBody>
          <a:bodyPr/>
          <a:lstStyle/>
          <a:p>
            <a:fld id="{9A9B497E-2026-4F5E-A88E-228BD1653E2D}" type="slidenum">
              <a:rPr lang="en-US" smtClean="0"/>
              <a:t>‹#›</a:t>
            </a:fld>
            <a:endParaRPr lang="en-US" dirty="0"/>
          </a:p>
        </p:txBody>
      </p:sp>
    </p:spTree>
    <p:extLst>
      <p:ext uri="{BB962C8B-B14F-4D97-AF65-F5344CB8AC3E}">
        <p14:creationId xmlns:p14="http://schemas.microsoft.com/office/powerpoint/2010/main" val="42629942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418C2-B71D-6F61-D7CA-F8F975785C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144228-E4C5-120F-B8F0-FA8E0E4A99C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002B3C-1BB7-7D98-D5C7-09A069AF4AD6}"/>
              </a:ext>
            </a:extLst>
          </p:cNvPr>
          <p:cNvSpPr>
            <a:spLocks noGrp="1"/>
          </p:cNvSpPr>
          <p:nvPr>
            <p:ph type="dt" sz="half" idx="10"/>
          </p:nvPr>
        </p:nvSpPr>
        <p:spPr/>
        <p:txBody>
          <a:bodyPr/>
          <a:lstStyle/>
          <a:p>
            <a:fld id="{E3D0ECED-9659-434A-A03A-004F19DB4044}" type="datetimeFigureOut">
              <a:rPr lang="en-US" smtClean="0"/>
              <a:t>2/21/2026</a:t>
            </a:fld>
            <a:endParaRPr lang="en-US" dirty="0"/>
          </a:p>
        </p:txBody>
      </p:sp>
      <p:sp>
        <p:nvSpPr>
          <p:cNvPr id="5" name="Footer Placeholder 4">
            <a:extLst>
              <a:ext uri="{FF2B5EF4-FFF2-40B4-BE49-F238E27FC236}">
                <a16:creationId xmlns:a16="http://schemas.microsoft.com/office/drawing/2014/main" id="{3F48EEB5-BCA8-5566-3910-E98FA54F151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1FB81A-4E83-B3D8-2C0C-96A684E60880}"/>
              </a:ext>
            </a:extLst>
          </p:cNvPr>
          <p:cNvSpPr>
            <a:spLocks noGrp="1"/>
          </p:cNvSpPr>
          <p:nvPr>
            <p:ph type="sldNum" sz="quarter" idx="12"/>
          </p:nvPr>
        </p:nvSpPr>
        <p:spPr/>
        <p:txBody>
          <a:bodyPr/>
          <a:lstStyle/>
          <a:p>
            <a:fld id="{9A9B497E-2026-4F5E-A88E-228BD1653E2D}" type="slidenum">
              <a:rPr lang="en-US" smtClean="0"/>
              <a:t>‹#›</a:t>
            </a:fld>
            <a:endParaRPr lang="en-US" dirty="0"/>
          </a:p>
        </p:txBody>
      </p:sp>
    </p:spTree>
    <p:extLst>
      <p:ext uri="{BB962C8B-B14F-4D97-AF65-F5344CB8AC3E}">
        <p14:creationId xmlns:p14="http://schemas.microsoft.com/office/powerpoint/2010/main" val="6989708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38DD30-B73F-F671-02B6-1693D9C7597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8FFD3A5-0B30-4523-7A55-D0655ABDC1D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36B808-0F56-0D4C-5147-0337B1A86A5F}"/>
              </a:ext>
            </a:extLst>
          </p:cNvPr>
          <p:cNvSpPr>
            <a:spLocks noGrp="1"/>
          </p:cNvSpPr>
          <p:nvPr>
            <p:ph type="dt" sz="half" idx="10"/>
          </p:nvPr>
        </p:nvSpPr>
        <p:spPr/>
        <p:txBody>
          <a:bodyPr/>
          <a:lstStyle/>
          <a:p>
            <a:fld id="{E3D0ECED-9659-434A-A03A-004F19DB4044}" type="datetimeFigureOut">
              <a:rPr lang="en-US" smtClean="0"/>
              <a:t>2/21/2026</a:t>
            </a:fld>
            <a:endParaRPr lang="en-US" dirty="0"/>
          </a:p>
        </p:txBody>
      </p:sp>
      <p:sp>
        <p:nvSpPr>
          <p:cNvPr id="5" name="Footer Placeholder 4">
            <a:extLst>
              <a:ext uri="{FF2B5EF4-FFF2-40B4-BE49-F238E27FC236}">
                <a16:creationId xmlns:a16="http://schemas.microsoft.com/office/drawing/2014/main" id="{C1676105-CEB6-33FE-1797-8F04BC6A683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05B7719-564F-8834-DFAB-A509B690FFD3}"/>
              </a:ext>
            </a:extLst>
          </p:cNvPr>
          <p:cNvSpPr>
            <a:spLocks noGrp="1"/>
          </p:cNvSpPr>
          <p:nvPr>
            <p:ph type="sldNum" sz="quarter" idx="12"/>
          </p:nvPr>
        </p:nvSpPr>
        <p:spPr/>
        <p:txBody>
          <a:bodyPr/>
          <a:lstStyle/>
          <a:p>
            <a:fld id="{9A9B497E-2026-4F5E-A88E-228BD1653E2D}" type="slidenum">
              <a:rPr lang="en-US" smtClean="0"/>
              <a:t>‹#›</a:t>
            </a:fld>
            <a:endParaRPr lang="en-US" dirty="0"/>
          </a:p>
        </p:txBody>
      </p:sp>
    </p:spTree>
    <p:extLst>
      <p:ext uri="{BB962C8B-B14F-4D97-AF65-F5344CB8AC3E}">
        <p14:creationId xmlns:p14="http://schemas.microsoft.com/office/powerpoint/2010/main" val="653230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2A1995-82B2-E034-E732-429BEBE64D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316C72D-1DDD-8E6E-6234-C8258EBAB6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82BD90-24B8-1F92-A377-D7ED336224C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D0ECED-9659-434A-A03A-004F19DB4044}" type="datetimeFigureOut">
              <a:rPr lang="en-US" smtClean="0"/>
              <a:t>2/21/2026</a:t>
            </a:fld>
            <a:endParaRPr lang="en-US" dirty="0"/>
          </a:p>
        </p:txBody>
      </p:sp>
      <p:sp>
        <p:nvSpPr>
          <p:cNvPr id="5" name="Footer Placeholder 4">
            <a:extLst>
              <a:ext uri="{FF2B5EF4-FFF2-40B4-BE49-F238E27FC236}">
                <a16:creationId xmlns:a16="http://schemas.microsoft.com/office/drawing/2014/main" id="{87E024B0-9F90-3DC6-A57B-7D7E9C4361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13E2976F-3E3F-D7D2-0144-910B77FF0B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9B497E-2026-4F5E-A88E-228BD1653E2D}" type="slidenum">
              <a:rPr lang="en-US" smtClean="0"/>
              <a:t>‹#›</a:t>
            </a:fld>
            <a:endParaRPr lang="en-US" dirty="0"/>
          </a:p>
        </p:txBody>
      </p:sp>
    </p:spTree>
    <p:extLst>
      <p:ext uri="{BB962C8B-B14F-4D97-AF65-F5344CB8AC3E}">
        <p14:creationId xmlns:p14="http://schemas.microsoft.com/office/powerpoint/2010/main" val="36168099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5">
          <a:fgClr>
            <a:schemeClr val="accent5">
              <a:lumMod val="40000"/>
              <a:lumOff val="60000"/>
            </a:schemeClr>
          </a:fgClr>
          <a:bgClr>
            <a:schemeClr val="bg1"/>
          </a:bgClr>
        </a:pattFill>
        <a:effectLst/>
      </p:bgPr>
    </p:bg>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8318C308-45C6-981A-5683-3A7C6D24D6B5}"/>
              </a:ext>
            </a:extLst>
          </p:cNvPr>
          <p:cNvGrpSpPr/>
          <p:nvPr/>
        </p:nvGrpSpPr>
        <p:grpSpPr>
          <a:xfrm>
            <a:off x="0" y="2468880"/>
            <a:ext cx="12192000" cy="4526280"/>
            <a:chOff x="0" y="2468880"/>
            <a:chExt cx="12192000" cy="4389120"/>
          </a:xfrm>
        </p:grpSpPr>
        <p:grpSp>
          <p:nvGrpSpPr>
            <p:cNvPr id="14" name="Group 13">
              <a:extLst>
                <a:ext uri="{FF2B5EF4-FFF2-40B4-BE49-F238E27FC236}">
                  <a16:creationId xmlns:a16="http://schemas.microsoft.com/office/drawing/2014/main" id="{28898253-AAF9-9A59-99FA-880737394615}"/>
                </a:ext>
              </a:extLst>
            </p:cNvPr>
            <p:cNvGrpSpPr/>
            <p:nvPr/>
          </p:nvGrpSpPr>
          <p:grpSpPr>
            <a:xfrm>
              <a:off x="0" y="2468880"/>
              <a:ext cx="10474960" cy="2479039"/>
              <a:chOff x="213360" y="556576"/>
              <a:chExt cx="2458720" cy="2158683"/>
            </a:xfrm>
          </p:grpSpPr>
          <p:sp>
            <p:nvSpPr>
              <p:cNvPr id="12" name="Frame 11">
                <a:extLst>
                  <a:ext uri="{FF2B5EF4-FFF2-40B4-BE49-F238E27FC236}">
                    <a16:creationId xmlns:a16="http://schemas.microsoft.com/office/drawing/2014/main" id="{B5A0D45D-9357-43B7-A2CF-E67EDDADF617}"/>
                  </a:ext>
                </a:extLst>
              </p:cNvPr>
              <p:cNvSpPr/>
              <p:nvPr/>
            </p:nvSpPr>
            <p:spPr>
              <a:xfrm>
                <a:off x="2286000" y="1796093"/>
                <a:ext cx="386080" cy="406399"/>
              </a:xfrm>
              <a:prstGeom prst="frame">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Frame 12">
                <a:extLst>
                  <a:ext uri="{FF2B5EF4-FFF2-40B4-BE49-F238E27FC236}">
                    <a16:creationId xmlns:a16="http://schemas.microsoft.com/office/drawing/2014/main" id="{69CBF3BD-4FC1-142E-E662-11DE6EB04E7C}"/>
                  </a:ext>
                </a:extLst>
              </p:cNvPr>
              <p:cNvSpPr/>
              <p:nvPr/>
            </p:nvSpPr>
            <p:spPr>
              <a:xfrm>
                <a:off x="1935480" y="2035882"/>
                <a:ext cx="518160" cy="425294"/>
              </a:xfrm>
              <a:prstGeom prst="frame">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Frame 10">
                <a:extLst>
                  <a:ext uri="{FF2B5EF4-FFF2-40B4-BE49-F238E27FC236}">
                    <a16:creationId xmlns:a16="http://schemas.microsoft.com/office/drawing/2014/main" id="{8450D2EF-BE43-E7FB-22D3-2A1232EB7659}"/>
                  </a:ext>
                </a:extLst>
              </p:cNvPr>
              <p:cNvSpPr/>
              <p:nvPr/>
            </p:nvSpPr>
            <p:spPr>
              <a:xfrm>
                <a:off x="213360" y="556576"/>
                <a:ext cx="1489302" cy="1645916"/>
              </a:xfrm>
              <a:prstGeom prst="fram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Frame 9">
                <a:extLst>
                  <a:ext uri="{FF2B5EF4-FFF2-40B4-BE49-F238E27FC236}">
                    <a16:creationId xmlns:a16="http://schemas.microsoft.com/office/drawing/2014/main" id="{D322A230-7946-7918-6C71-01572048437D}"/>
                  </a:ext>
                </a:extLst>
              </p:cNvPr>
              <p:cNvSpPr/>
              <p:nvPr/>
            </p:nvSpPr>
            <p:spPr>
              <a:xfrm>
                <a:off x="889000" y="1587500"/>
                <a:ext cx="1148080" cy="1127759"/>
              </a:xfrm>
              <a:prstGeom prst="fram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Frame 8">
                <a:extLst>
                  <a:ext uri="{FF2B5EF4-FFF2-40B4-BE49-F238E27FC236}">
                    <a16:creationId xmlns:a16="http://schemas.microsoft.com/office/drawing/2014/main" id="{BC9030A7-D4C1-AFA0-6BC4-92501253F435}"/>
                  </a:ext>
                </a:extLst>
              </p:cNvPr>
              <p:cNvSpPr/>
              <p:nvPr/>
            </p:nvSpPr>
            <p:spPr>
              <a:xfrm>
                <a:off x="731520" y="1351280"/>
                <a:ext cx="670560" cy="1127759"/>
              </a:xfrm>
              <a:prstGeom prst="fram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8" name="Rectangle 7">
              <a:extLst>
                <a:ext uri="{FF2B5EF4-FFF2-40B4-BE49-F238E27FC236}">
                  <a16:creationId xmlns:a16="http://schemas.microsoft.com/office/drawing/2014/main" id="{FB296C02-A389-B387-C6F1-74E874EB2C30}"/>
                </a:ext>
              </a:extLst>
            </p:cNvPr>
            <p:cNvSpPr/>
            <p:nvPr/>
          </p:nvSpPr>
          <p:spPr>
            <a:xfrm>
              <a:off x="0" y="3606802"/>
              <a:ext cx="12192000" cy="3251198"/>
            </a:xfrm>
            <a:prstGeom prst="rect">
              <a:avLst/>
            </a:prstGeom>
            <a:solidFill>
              <a:schemeClr val="accent2">
                <a:lumMod val="20000"/>
                <a:lumOff val="80000"/>
                <a:alpha val="45000"/>
              </a:schemeClr>
            </a:solidFill>
            <a:ln>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 name="Straight Connector 4">
              <a:extLst>
                <a:ext uri="{FF2B5EF4-FFF2-40B4-BE49-F238E27FC236}">
                  <a16:creationId xmlns:a16="http://schemas.microsoft.com/office/drawing/2014/main" id="{7B0BC894-3AD5-DAED-DFCA-3CA03505483A}"/>
                </a:ext>
              </a:extLst>
            </p:cNvPr>
            <p:cNvCxnSpPr/>
            <p:nvPr/>
          </p:nvCxnSpPr>
          <p:spPr>
            <a:xfrm>
              <a:off x="0" y="3602038"/>
              <a:ext cx="10104120" cy="0"/>
            </a:xfrm>
            <a:prstGeom prst="line">
              <a:avLst/>
            </a:prstGeom>
            <a:ln w="2540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8F7EF415-1CFB-9277-6663-2E1D84D7737F}"/>
                </a:ext>
              </a:extLst>
            </p:cNvPr>
            <p:cNvCxnSpPr/>
            <p:nvPr/>
          </p:nvCxnSpPr>
          <p:spPr>
            <a:xfrm>
              <a:off x="167640" y="3509963"/>
              <a:ext cx="10104120" cy="0"/>
            </a:xfrm>
            <a:prstGeom prst="line">
              <a:avLst/>
            </a:prstGeom>
            <a:ln w="254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D03E3D5-73C3-0BC3-898F-80C51C72539E}"/>
                </a:ext>
              </a:extLst>
            </p:cNvPr>
            <p:cNvCxnSpPr/>
            <p:nvPr/>
          </p:nvCxnSpPr>
          <p:spPr>
            <a:xfrm>
              <a:off x="370840" y="3556318"/>
              <a:ext cx="10104120" cy="0"/>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26E3168C-7208-6F36-FAC1-4AABF56757C5}"/>
              </a:ext>
            </a:extLst>
          </p:cNvPr>
          <p:cNvSpPr>
            <a:spLocks noGrp="1"/>
          </p:cNvSpPr>
          <p:nvPr>
            <p:ph type="ctrTitle"/>
          </p:nvPr>
        </p:nvSpPr>
        <p:spPr/>
        <p:txBody>
          <a:bodyPr/>
          <a:lstStyle/>
          <a:p>
            <a:r>
              <a:rPr lang="en-US" dirty="0">
                <a:effectLst>
                  <a:reflection blurRad="12700" stA="20000" endPos="30000" dist="12700" dir="5400000" sy="-100000" algn="bl" rotWithShape="0"/>
                </a:effectLst>
                <a:latin typeface="Avenir Next LT Pro Light" panose="020B0304020202020204" pitchFamily="34" charset="0"/>
              </a:rPr>
              <a:t>Agile Presentation</a:t>
            </a:r>
          </a:p>
        </p:txBody>
      </p:sp>
      <p:sp>
        <p:nvSpPr>
          <p:cNvPr id="3" name="Subtitle 2">
            <a:extLst>
              <a:ext uri="{FF2B5EF4-FFF2-40B4-BE49-F238E27FC236}">
                <a16:creationId xmlns:a16="http://schemas.microsoft.com/office/drawing/2014/main" id="{67D8239E-A320-36FA-B8CF-42CBBB70C955}"/>
              </a:ext>
            </a:extLst>
          </p:cNvPr>
          <p:cNvSpPr>
            <a:spLocks noGrp="1"/>
          </p:cNvSpPr>
          <p:nvPr>
            <p:ph type="subTitle" idx="1"/>
          </p:nvPr>
        </p:nvSpPr>
        <p:spPr/>
        <p:txBody>
          <a:bodyPr/>
          <a:lstStyle/>
          <a:p>
            <a:r>
              <a:rPr lang="en-US" dirty="0">
                <a:latin typeface="Agency FB" panose="020B0503020202020204" pitchFamily="34" charset="0"/>
              </a:rPr>
              <a:t>CS-250 Software Development Lifecycle</a:t>
            </a:r>
          </a:p>
          <a:p>
            <a:r>
              <a:rPr lang="en-US" dirty="0">
                <a:latin typeface="Agency FB" panose="020B0503020202020204" pitchFamily="34" charset="0"/>
              </a:rPr>
              <a:t>Professor Tammy Morrison</a:t>
            </a:r>
          </a:p>
          <a:p>
            <a:r>
              <a:rPr lang="en-US" b="1" dirty="0">
                <a:latin typeface="Agency FB" panose="020B0503020202020204" pitchFamily="34" charset="0"/>
              </a:rPr>
              <a:t>Minna Bohl</a:t>
            </a:r>
          </a:p>
        </p:txBody>
      </p:sp>
    </p:spTree>
    <p:extLst>
      <p:ext uri="{BB962C8B-B14F-4D97-AF65-F5344CB8AC3E}">
        <p14:creationId xmlns:p14="http://schemas.microsoft.com/office/powerpoint/2010/main" val="1556722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EEC84CB2-10F0-83A7-8000-A0080E5AFAF6}"/>
              </a:ext>
            </a:extLst>
          </p:cNvPr>
          <p:cNvGrpSpPr/>
          <p:nvPr/>
        </p:nvGrpSpPr>
        <p:grpSpPr>
          <a:xfrm rot="16200000">
            <a:off x="6568440" y="1234440"/>
            <a:ext cx="6858000" cy="4389120"/>
            <a:chOff x="0" y="2468880"/>
            <a:chExt cx="11506200" cy="4389120"/>
          </a:xfrm>
        </p:grpSpPr>
        <p:grpSp>
          <p:nvGrpSpPr>
            <p:cNvPr id="5" name="Group 4">
              <a:extLst>
                <a:ext uri="{FF2B5EF4-FFF2-40B4-BE49-F238E27FC236}">
                  <a16:creationId xmlns:a16="http://schemas.microsoft.com/office/drawing/2014/main" id="{77648AB0-75F1-6561-BB79-FBF6F7820DBF}"/>
                </a:ext>
              </a:extLst>
            </p:cNvPr>
            <p:cNvGrpSpPr/>
            <p:nvPr/>
          </p:nvGrpSpPr>
          <p:grpSpPr>
            <a:xfrm>
              <a:off x="0" y="2468880"/>
              <a:ext cx="10474960" cy="2479039"/>
              <a:chOff x="213360" y="556576"/>
              <a:chExt cx="2458720" cy="2158683"/>
            </a:xfrm>
          </p:grpSpPr>
          <p:sp>
            <p:nvSpPr>
              <p:cNvPr id="10" name="Frame 9">
                <a:extLst>
                  <a:ext uri="{FF2B5EF4-FFF2-40B4-BE49-F238E27FC236}">
                    <a16:creationId xmlns:a16="http://schemas.microsoft.com/office/drawing/2014/main" id="{D31D1FEE-8B07-F33B-6052-F9C9909C27F8}"/>
                  </a:ext>
                </a:extLst>
              </p:cNvPr>
              <p:cNvSpPr/>
              <p:nvPr/>
            </p:nvSpPr>
            <p:spPr>
              <a:xfrm>
                <a:off x="2286000" y="1796093"/>
                <a:ext cx="386080" cy="406399"/>
              </a:xfrm>
              <a:prstGeom prst="frame">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Frame 10">
                <a:extLst>
                  <a:ext uri="{FF2B5EF4-FFF2-40B4-BE49-F238E27FC236}">
                    <a16:creationId xmlns:a16="http://schemas.microsoft.com/office/drawing/2014/main" id="{74385D74-80D4-F94C-1F69-F85B81650550}"/>
                  </a:ext>
                </a:extLst>
              </p:cNvPr>
              <p:cNvSpPr/>
              <p:nvPr/>
            </p:nvSpPr>
            <p:spPr>
              <a:xfrm>
                <a:off x="1935480" y="2035882"/>
                <a:ext cx="518160" cy="425294"/>
              </a:xfrm>
              <a:prstGeom prst="frame">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a:extLst>
                  <a:ext uri="{FF2B5EF4-FFF2-40B4-BE49-F238E27FC236}">
                    <a16:creationId xmlns:a16="http://schemas.microsoft.com/office/drawing/2014/main" id="{B15E0286-DC52-6585-F08E-299A2FF6CF5B}"/>
                  </a:ext>
                </a:extLst>
              </p:cNvPr>
              <p:cNvSpPr/>
              <p:nvPr/>
            </p:nvSpPr>
            <p:spPr>
              <a:xfrm>
                <a:off x="213360" y="556576"/>
                <a:ext cx="1489302" cy="1645916"/>
              </a:xfrm>
              <a:prstGeom prst="fram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Frame 12">
                <a:extLst>
                  <a:ext uri="{FF2B5EF4-FFF2-40B4-BE49-F238E27FC236}">
                    <a16:creationId xmlns:a16="http://schemas.microsoft.com/office/drawing/2014/main" id="{BDEC8548-CE10-9448-6F13-79D679C414FA}"/>
                  </a:ext>
                </a:extLst>
              </p:cNvPr>
              <p:cNvSpPr/>
              <p:nvPr/>
            </p:nvSpPr>
            <p:spPr>
              <a:xfrm>
                <a:off x="889000" y="1587500"/>
                <a:ext cx="1148080" cy="1127759"/>
              </a:xfrm>
              <a:prstGeom prst="fram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a:extLst>
                  <a:ext uri="{FF2B5EF4-FFF2-40B4-BE49-F238E27FC236}">
                    <a16:creationId xmlns:a16="http://schemas.microsoft.com/office/drawing/2014/main" id="{1C311F3B-BF34-3015-55DE-C40E2AF54290}"/>
                  </a:ext>
                </a:extLst>
              </p:cNvPr>
              <p:cNvSpPr/>
              <p:nvPr/>
            </p:nvSpPr>
            <p:spPr>
              <a:xfrm>
                <a:off x="731520" y="1351280"/>
                <a:ext cx="670560" cy="1127759"/>
              </a:xfrm>
              <a:prstGeom prst="fram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6" name="Rectangle 5">
              <a:extLst>
                <a:ext uri="{FF2B5EF4-FFF2-40B4-BE49-F238E27FC236}">
                  <a16:creationId xmlns:a16="http://schemas.microsoft.com/office/drawing/2014/main" id="{4216CC62-81E9-674F-C51B-404486A059E1}"/>
                </a:ext>
              </a:extLst>
            </p:cNvPr>
            <p:cNvSpPr/>
            <p:nvPr/>
          </p:nvSpPr>
          <p:spPr>
            <a:xfrm>
              <a:off x="0" y="3606802"/>
              <a:ext cx="11506200" cy="3251198"/>
            </a:xfrm>
            <a:prstGeom prst="rect">
              <a:avLst/>
            </a:prstGeom>
            <a:solidFill>
              <a:schemeClr val="accent2">
                <a:lumMod val="20000"/>
                <a:lumOff val="80000"/>
                <a:alpha val="45000"/>
              </a:schemeClr>
            </a:solidFill>
            <a:ln>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2465BEF1-588F-E599-7062-82C2157BF014}"/>
                </a:ext>
              </a:extLst>
            </p:cNvPr>
            <p:cNvCxnSpPr/>
            <p:nvPr/>
          </p:nvCxnSpPr>
          <p:spPr>
            <a:xfrm>
              <a:off x="0" y="3602038"/>
              <a:ext cx="10104120" cy="0"/>
            </a:xfrm>
            <a:prstGeom prst="line">
              <a:avLst/>
            </a:prstGeom>
            <a:ln w="2540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9EB8C39-4904-8F89-EA43-4772B6FF525D}"/>
                </a:ext>
              </a:extLst>
            </p:cNvPr>
            <p:cNvCxnSpPr/>
            <p:nvPr/>
          </p:nvCxnSpPr>
          <p:spPr>
            <a:xfrm>
              <a:off x="167640" y="3509963"/>
              <a:ext cx="10104120" cy="0"/>
            </a:xfrm>
            <a:prstGeom prst="line">
              <a:avLst/>
            </a:prstGeom>
            <a:ln w="254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14C698A-3ECF-A381-C90B-CD2B7C71B496}"/>
                </a:ext>
              </a:extLst>
            </p:cNvPr>
            <p:cNvCxnSpPr/>
            <p:nvPr/>
          </p:nvCxnSpPr>
          <p:spPr>
            <a:xfrm>
              <a:off x="370840" y="3556318"/>
              <a:ext cx="10104120" cy="0"/>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13780727-817C-2E7D-4C46-67B11A7D342C}"/>
              </a:ext>
            </a:extLst>
          </p:cNvPr>
          <p:cNvSpPr>
            <a:spLocks noGrp="1"/>
          </p:cNvSpPr>
          <p:nvPr>
            <p:ph type="title"/>
          </p:nvPr>
        </p:nvSpPr>
        <p:spPr/>
        <p:txBody>
          <a:bodyPr/>
          <a:lstStyle/>
          <a:p>
            <a:r>
              <a:rPr lang="en-US" dirty="0">
                <a:effectLst>
                  <a:reflection blurRad="12700" stA="20000" endPos="30000" dist="12700" dir="5400000" sy="-100000" algn="bl" rotWithShape="0"/>
                </a:effectLst>
                <a:latin typeface="Avenir Next LT Pro Light" panose="020B0304020202020204" pitchFamily="34" charset="0"/>
              </a:rPr>
              <a:t>Agile Roles</a:t>
            </a:r>
          </a:p>
        </p:txBody>
      </p:sp>
      <p:sp>
        <p:nvSpPr>
          <p:cNvPr id="3" name="Content Placeholder 2">
            <a:extLst>
              <a:ext uri="{FF2B5EF4-FFF2-40B4-BE49-F238E27FC236}">
                <a16:creationId xmlns:a16="http://schemas.microsoft.com/office/drawing/2014/main" id="{1ECE0980-D8B2-C19B-BAFF-E125045285AF}"/>
              </a:ext>
            </a:extLst>
          </p:cNvPr>
          <p:cNvSpPr>
            <a:spLocks noGrp="1"/>
          </p:cNvSpPr>
          <p:nvPr>
            <p:ph idx="1"/>
          </p:nvPr>
        </p:nvSpPr>
        <p:spPr/>
        <p:txBody>
          <a:bodyPr/>
          <a:lstStyle/>
          <a:p>
            <a:pPr marL="0" indent="0">
              <a:buNone/>
            </a:pPr>
            <a:r>
              <a:rPr lang="en-US" b="1" dirty="0">
                <a:latin typeface="Agency FB" panose="020B0503020202020204" pitchFamily="34" charset="0"/>
              </a:rPr>
              <a:t>Scrum Master</a:t>
            </a:r>
          </a:p>
          <a:p>
            <a:r>
              <a:rPr lang="en-US" dirty="0">
                <a:latin typeface="Avenir Next LT Pro Light" panose="020B0304020202020204" pitchFamily="34" charset="0"/>
              </a:rPr>
              <a:t>They act as a servant leader and are responsible for making the Scrum team as effective as possible, and do not boss others around.</a:t>
            </a:r>
          </a:p>
          <a:p>
            <a:r>
              <a:rPr lang="en-US" dirty="0">
                <a:latin typeface="Avenir Next LT Pro Light" panose="020B0304020202020204" pitchFamily="34" charset="0"/>
              </a:rPr>
              <a:t>They plan and lead the Scrum meetings such as the Daily Scrum Meetings, Sprint Planning, and Retrospectives.</a:t>
            </a:r>
          </a:p>
          <a:p>
            <a:r>
              <a:rPr lang="en-US" dirty="0">
                <a:latin typeface="Avenir Next LT Pro Light" panose="020B0304020202020204" pitchFamily="34" charset="0"/>
              </a:rPr>
              <a:t>They protect the Scrum team by removing and working out any issues/impediments that are in the way of the team.</a:t>
            </a:r>
          </a:p>
        </p:txBody>
      </p:sp>
      <p:grpSp>
        <p:nvGrpSpPr>
          <p:cNvPr id="37" name="Group 36">
            <a:extLst>
              <a:ext uri="{FF2B5EF4-FFF2-40B4-BE49-F238E27FC236}">
                <a16:creationId xmlns:a16="http://schemas.microsoft.com/office/drawing/2014/main" id="{6B8A2700-7E4E-D567-F566-67D0A3E52207}"/>
              </a:ext>
            </a:extLst>
          </p:cNvPr>
          <p:cNvGrpSpPr/>
          <p:nvPr/>
        </p:nvGrpSpPr>
        <p:grpSpPr>
          <a:xfrm>
            <a:off x="0" y="1437956"/>
            <a:ext cx="10474960" cy="92075"/>
            <a:chOff x="0" y="3509963"/>
            <a:chExt cx="10474960" cy="92075"/>
          </a:xfrm>
        </p:grpSpPr>
        <p:cxnSp>
          <p:nvCxnSpPr>
            <p:cNvPr id="38" name="Straight Connector 37">
              <a:extLst>
                <a:ext uri="{FF2B5EF4-FFF2-40B4-BE49-F238E27FC236}">
                  <a16:creationId xmlns:a16="http://schemas.microsoft.com/office/drawing/2014/main" id="{97395CDD-C55D-ECBA-4A5B-2D3647107EFE}"/>
                </a:ext>
              </a:extLst>
            </p:cNvPr>
            <p:cNvCxnSpPr/>
            <p:nvPr/>
          </p:nvCxnSpPr>
          <p:spPr>
            <a:xfrm>
              <a:off x="0" y="3602038"/>
              <a:ext cx="10104120" cy="0"/>
            </a:xfrm>
            <a:prstGeom prst="line">
              <a:avLst/>
            </a:prstGeom>
            <a:ln w="2540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B9EA275-0249-D0CF-A0AB-DB03A3C65156}"/>
                </a:ext>
              </a:extLst>
            </p:cNvPr>
            <p:cNvCxnSpPr/>
            <p:nvPr/>
          </p:nvCxnSpPr>
          <p:spPr>
            <a:xfrm>
              <a:off x="167640" y="3509963"/>
              <a:ext cx="10104120" cy="0"/>
            </a:xfrm>
            <a:prstGeom prst="line">
              <a:avLst/>
            </a:prstGeom>
            <a:ln w="254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CD97E8F7-B325-0F0F-21ED-92106D51B93D}"/>
                </a:ext>
              </a:extLst>
            </p:cNvPr>
            <p:cNvCxnSpPr/>
            <p:nvPr/>
          </p:nvCxnSpPr>
          <p:spPr>
            <a:xfrm>
              <a:off x="370840" y="3556318"/>
              <a:ext cx="10104120" cy="0"/>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42" name="TextBox 41">
            <a:extLst>
              <a:ext uri="{FF2B5EF4-FFF2-40B4-BE49-F238E27FC236}">
                <a16:creationId xmlns:a16="http://schemas.microsoft.com/office/drawing/2014/main" id="{0452065F-8A85-E275-BC2E-7F8ECE725A55}"/>
              </a:ext>
            </a:extLst>
          </p:cNvPr>
          <p:cNvSpPr txBox="1"/>
          <p:nvPr/>
        </p:nvSpPr>
        <p:spPr>
          <a:xfrm>
            <a:off x="167640" y="6388751"/>
            <a:ext cx="609600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(Coursera Staff, 2025a)</a:t>
            </a:r>
          </a:p>
        </p:txBody>
      </p:sp>
    </p:spTree>
    <p:extLst>
      <p:ext uri="{BB962C8B-B14F-4D97-AF65-F5344CB8AC3E}">
        <p14:creationId xmlns:p14="http://schemas.microsoft.com/office/powerpoint/2010/main" val="9723702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F20CB8CF-109B-96C7-8DA3-0F4B5B1E33B4}"/>
              </a:ext>
            </a:extLst>
          </p:cNvPr>
          <p:cNvGrpSpPr/>
          <p:nvPr/>
        </p:nvGrpSpPr>
        <p:grpSpPr>
          <a:xfrm rot="16200000">
            <a:off x="6568440" y="1234440"/>
            <a:ext cx="6858000" cy="4389120"/>
            <a:chOff x="0" y="2468880"/>
            <a:chExt cx="11506200" cy="4389120"/>
          </a:xfrm>
        </p:grpSpPr>
        <p:grpSp>
          <p:nvGrpSpPr>
            <p:cNvPr id="5" name="Group 4">
              <a:extLst>
                <a:ext uri="{FF2B5EF4-FFF2-40B4-BE49-F238E27FC236}">
                  <a16:creationId xmlns:a16="http://schemas.microsoft.com/office/drawing/2014/main" id="{32DC21BA-E3E6-9358-C20A-9A262D290C03}"/>
                </a:ext>
              </a:extLst>
            </p:cNvPr>
            <p:cNvGrpSpPr/>
            <p:nvPr/>
          </p:nvGrpSpPr>
          <p:grpSpPr>
            <a:xfrm>
              <a:off x="0" y="2468880"/>
              <a:ext cx="10474960" cy="2479039"/>
              <a:chOff x="213360" y="556576"/>
              <a:chExt cx="2458720" cy="2158683"/>
            </a:xfrm>
          </p:grpSpPr>
          <p:sp>
            <p:nvSpPr>
              <p:cNvPr id="10" name="Frame 9">
                <a:extLst>
                  <a:ext uri="{FF2B5EF4-FFF2-40B4-BE49-F238E27FC236}">
                    <a16:creationId xmlns:a16="http://schemas.microsoft.com/office/drawing/2014/main" id="{0385630F-16B8-F29A-D8D1-79968D8CFD88}"/>
                  </a:ext>
                </a:extLst>
              </p:cNvPr>
              <p:cNvSpPr/>
              <p:nvPr/>
            </p:nvSpPr>
            <p:spPr>
              <a:xfrm>
                <a:off x="2286000" y="1796093"/>
                <a:ext cx="386080" cy="406399"/>
              </a:xfrm>
              <a:prstGeom prst="frame">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Frame 10">
                <a:extLst>
                  <a:ext uri="{FF2B5EF4-FFF2-40B4-BE49-F238E27FC236}">
                    <a16:creationId xmlns:a16="http://schemas.microsoft.com/office/drawing/2014/main" id="{AF72D772-AEB7-E20A-C732-E83248A7ADBC}"/>
                  </a:ext>
                </a:extLst>
              </p:cNvPr>
              <p:cNvSpPr/>
              <p:nvPr/>
            </p:nvSpPr>
            <p:spPr>
              <a:xfrm>
                <a:off x="1935480" y="2035882"/>
                <a:ext cx="518160" cy="425294"/>
              </a:xfrm>
              <a:prstGeom prst="frame">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a:extLst>
                  <a:ext uri="{FF2B5EF4-FFF2-40B4-BE49-F238E27FC236}">
                    <a16:creationId xmlns:a16="http://schemas.microsoft.com/office/drawing/2014/main" id="{24F4E04C-A776-7375-9AC4-3C01EEC05AED}"/>
                  </a:ext>
                </a:extLst>
              </p:cNvPr>
              <p:cNvSpPr/>
              <p:nvPr/>
            </p:nvSpPr>
            <p:spPr>
              <a:xfrm>
                <a:off x="213360" y="556576"/>
                <a:ext cx="1489302" cy="1645916"/>
              </a:xfrm>
              <a:prstGeom prst="fram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Frame 12">
                <a:extLst>
                  <a:ext uri="{FF2B5EF4-FFF2-40B4-BE49-F238E27FC236}">
                    <a16:creationId xmlns:a16="http://schemas.microsoft.com/office/drawing/2014/main" id="{375A4F11-3700-36A9-883B-BA704035B853}"/>
                  </a:ext>
                </a:extLst>
              </p:cNvPr>
              <p:cNvSpPr/>
              <p:nvPr/>
            </p:nvSpPr>
            <p:spPr>
              <a:xfrm>
                <a:off x="889000" y="1587500"/>
                <a:ext cx="1148080" cy="1127759"/>
              </a:xfrm>
              <a:prstGeom prst="fram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a:extLst>
                  <a:ext uri="{FF2B5EF4-FFF2-40B4-BE49-F238E27FC236}">
                    <a16:creationId xmlns:a16="http://schemas.microsoft.com/office/drawing/2014/main" id="{C48FDD3F-B174-7F04-6C93-086B863105DF}"/>
                  </a:ext>
                </a:extLst>
              </p:cNvPr>
              <p:cNvSpPr/>
              <p:nvPr/>
            </p:nvSpPr>
            <p:spPr>
              <a:xfrm>
                <a:off x="731520" y="1351280"/>
                <a:ext cx="670560" cy="1127759"/>
              </a:xfrm>
              <a:prstGeom prst="fram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6" name="Rectangle 5">
              <a:extLst>
                <a:ext uri="{FF2B5EF4-FFF2-40B4-BE49-F238E27FC236}">
                  <a16:creationId xmlns:a16="http://schemas.microsoft.com/office/drawing/2014/main" id="{F621FDEC-D7AC-CB31-010D-883A5BAF423F}"/>
                </a:ext>
              </a:extLst>
            </p:cNvPr>
            <p:cNvSpPr/>
            <p:nvPr/>
          </p:nvSpPr>
          <p:spPr>
            <a:xfrm>
              <a:off x="0" y="3606802"/>
              <a:ext cx="11506200" cy="3251198"/>
            </a:xfrm>
            <a:prstGeom prst="rect">
              <a:avLst/>
            </a:prstGeom>
            <a:solidFill>
              <a:schemeClr val="accent2">
                <a:lumMod val="20000"/>
                <a:lumOff val="80000"/>
                <a:alpha val="45000"/>
              </a:schemeClr>
            </a:solidFill>
            <a:ln>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62421F06-0E46-4CFB-CDC3-C3D1D0DE99CD}"/>
                </a:ext>
              </a:extLst>
            </p:cNvPr>
            <p:cNvCxnSpPr/>
            <p:nvPr/>
          </p:nvCxnSpPr>
          <p:spPr>
            <a:xfrm>
              <a:off x="0" y="3602038"/>
              <a:ext cx="10104120" cy="0"/>
            </a:xfrm>
            <a:prstGeom prst="line">
              <a:avLst/>
            </a:prstGeom>
            <a:ln w="2540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FC6635C-C043-BDEA-9D34-D16286F0E5AD}"/>
                </a:ext>
              </a:extLst>
            </p:cNvPr>
            <p:cNvCxnSpPr/>
            <p:nvPr/>
          </p:nvCxnSpPr>
          <p:spPr>
            <a:xfrm>
              <a:off x="167640" y="3509963"/>
              <a:ext cx="10104120" cy="0"/>
            </a:xfrm>
            <a:prstGeom prst="line">
              <a:avLst/>
            </a:prstGeom>
            <a:ln w="254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89A6320-9E2E-00E2-5578-121B348A02EB}"/>
                </a:ext>
              </a:extLst>
            </p:cNvPr>
            <p:cNvCxnSpPr/>
            <p:nvPr/>
          </p:nvCxnSpPr>
          <p:spPr>
            <a:xfrm>
              <a:off x="370840" y="3556318"/>
              <a:ext cx="10104120" cy="0"/>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D4FEF5FE-AA7E-69B0-2503-6394AAA3326F}"/>
              </a:ext>
            </a:extLst>
          </p:cNvPr>
          <p:cNvSpPr>
            <a:spLocks noGrp="1"/>
          </p:cNvSpPr>
          <p:nvPr>
            <p:ph type="title"/>
          </p:nvPr>
        </p:nvSpPr>
        <p:spPr/>
        <p:txBody>
          <a:bodyPr/>
          <a:lstStyle/>
          <a:p>
            <a:r>
              <a:rPr lang="en-US" dirty="0">
                <a:effectLst>
                  <a:reflection blurRad="12700" stA="20000" endPos="30000" dist="12700" dir="5400000" sy="-100000" algn="bl" rotWithShape="0"/>
                </a:effectLst>
                <a:latin typeface="Avenir Next LT Pro Light" panose="020B0304020202020204" pitchFamily="34" charset="0"/>
              </a:rPr>
              <a:t>Agile Roles</a:t>
            </a:r>
          </a:p>
        </p:txBody>
      </p:sp>
      <p:sp>
        <p:nvSpPr>
          <p:cNvPr id="3" name="Content Placeholder 2">
            <a:extLst>
              <a:ext uri="{FF2B5EF4-FFF2-40B4-BE49-F238E27FC236}">
                <a16:creationId xmlns:a16="http://schemas.microsoft.com/office/drawing/2014/main" id="{5F5A838C-CA59-4279-B1E6-730A5E49B395}"/>
              </a:ext>
            </a:extLst>
          </p:cNvPr>
          <p:cNvSpPr>
            <a:spLocks noGrp="1"/>
          </p:cNvSpPr>
          <p:nvPr>
            <p:ph idx="1"/>
          </p:nvPr>
        </p:nvSpPr>
        <p:spPr/>
        <p:txBody>
          <a:bodyPr>
            <a:normAutofit fontScale="92500"/>
          </a:bodyPr>
          <a:lstStyle/>
          <a:p>
            <a:pPr marL="0" indent="0">
              <a:buNone/>
            </a:pPr>
            <a:r>
              <a:rPr lang="en-US" b="1" dirty="0">
                <a:latin typeface="Agency FB" panose="020B0503020202020204" pitchFamily="34" charset="0"/>
              </a:rPr>
              <a:t>Product Owner</a:t>
            </a:r>
          </a:p>
          <a:p>
            <a:r>
              <a:rPr lang="en-US" dirty="0">
                <a:latin typeface="Avenir Next LT Pro Light" panose="020B0304020202020204" pitchFamily="34" charset="0"/>
              </a:rPr>
              <a:t>They ensure to align the Scrum team with the project goals and bridge between the business needs and technical team.</a:t>
            </a:r>
          </a:p>
          <a:p>
            <a:r>
              <a:rPr lang="en-US" dirty="0">
                <a:latin typeface="Avenir Next LT Pro Light" panose="020B0304020202020204" pitchFamily="34" charset="0"/>
              </a:rPr>
              <a:t>They are responsible for managing the Product Backlog to ensure work is prioritized so the most important features are done first.</a:t>
            </a:r>
          </a:p>
          <a:p>
            <a:r>
              <a:rPr lang="en-US" dirty="0">
                <a:latin typeface="Avenir Next LT Pro Light" panose="020B0304020202020204" pitchFamily="34" charset="0"/>
              </a:rPr>
              <a:t>They create User Stories for the Development team to see what items are needed for the project.</a:t>
            </a:r>
          </a:p>
          <a:p>
            <a:r>
              <a:rPr lang="en-US" dirty="0">
                <a:latin typeface="Avenir Next LT Pro Light" panose="020B0304020202020204" pitchFamily="34" charset="0"/>
              </a:rPr>
              <a:t>They communicate with stakeholders and customers to ensure they keep with trends and expectations for the product as well as the wants and needs of the customer.</a:t>
            </a:r>
          </a:p>
        </p:txBody>
      </p:sp>
      <p:grpSp>
        <p:nvGrpSpPr>
          <p:cNvPr id="15" name="Group 14">
            <a:extLst>
              <a:ext uri="{FF2B5EF4-FFF2-40B4-BE49-F238E27FC236}">
                <a16:creationId xmlns:a16="http://schemas.microsoft.com/office/drawing/2014/main" id="{49CB918A-A8C9-5E3C-8EB0-E8160FCAE376}"/>
              </a:ext>
            </a:extLst>
          </p:cNvPr>
          <p:cNvGrpSpPr/>
          <p:nvPr/>
        </p:nvGrpSpPr>
        <p:grpSpPr>
          <a:xfrm>
            <a:off x="0" y="1437956"/>
            <a:ext cx="10474960" cy="92075"/>
            <a:chOff x="0" y="3509963"/>
            <a:chExt cx="10474960" cy="92075"/>
          </a:xfrm>
        </p:grpSpPr>
        <p:cxnSp>
          <p:nvCxnSpPr>
            <p:cNvPr id="16" name="Straight Connector 15">
              <a:extLst>
                <a:ext uri="{FF2B5EF4-FFF2-40B4-BE49-F238E27FC236}">
                  <a16:creationId xmlns:a16="http://schemas.microsoft.com/office/drawing/2014/main" id="{FAF8F5CE-F02F-2DCA-4D89-11170FC05D27}"/>
                </a:ext>
              </a:extLst>
            </p:cNvPr>
            <p:cNvCxnSpPr/>
            <p:nvPr/>
          </p:nvCxnSpPr>
          <p:spPr>
            <a:xfrm>
              <a:off x="0" y="3602038"/>
              <a:ext cx="10104120" cy="0"/>
            </a:xfrm>
            <a:prstGeom prst="line">
              <a:avLst/>
            </a:prstGeom>
            <a:ln w="2540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E56F3F7-A2AB-3CD8-4B77-32CAE27AD274}"/>
                </a:ext>
              </a:extLst>
            </p:cNvPr>
            <p:cNvCxnSpPr/>
            <p:nvPr/>
          </p:nvCxnSpPr>
          <p:spPr>
            <a:xfrm>
              <a:off x="167640" y="3509963"/>
              <a:ext cx="10104120" cy="0"/>
            </a:xfrm>
            <a:prstGeom prst="line">
              <a:avLst/>
            </a:prstGeom>
            <a:ln w="254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7187592-C078-8590-32C1-25947AD4A07F}"/>
                </a:ext>
              </a:extLst>
            </p:cNvPr>
            <p:cNvCxnSpPr/>
            <p:nvPr/>
          </p:nvCxnSpPr>
          <p:spPr>
            <a:xfrm>
              <a:off x="370840" y="3556318"/>
              <a:ext cx="10104120" cy="0"/>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19" name="TextBox 18">
            <a:extLst>
              <a:ext uri="{FF2B5EF4-FFF2-40B4-BE49-F238E27FC236}">
                <a16:creationId xmlns:a16="http://schemas.microsoft.com/office/drawing/2014/main" id="{112A0DFF-04FF-64D3-2B65-9AF882B5E6AC}"/>
              </a:ext>
            </a:extLst>
          </p:cNvPr>
          <p:cNvSpPr txBox="1"/>
          <p:nvPr/>
        </p:nvSpPr>
        <p:spPr>
          <a:xfrm>
            <a:off x="167640" y="6388751"/>
            <a:ext cx="609600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(Coursera Staff, 2025a)</a:t>
            </a:r>
          </a:p>
        </p:txBody>
      </p:sp>
    </p:spTree>
    <p:extLst>
      <p:ext uri="{BB962C8B-B14F-4D97-AF65-F5344CB8AC3E}">
        <p14:creationId xmlns:p14="http://schemas.microsoft.com/office/powerpoint/2010/main" val="31204047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74C0C68-90E5-6142-92AD-A2B929A8A97A}"/>
              </a:ext>
            </a:extLst>
          </p:cNvPr>
          <p:cNvGrpSpPr/>
          <p:nvPr/>
        </p:nvGrpSpPr>
        <p:grpSpPr>
          <a:xfrm rot="16200000">
            <a:off x="6568440" y="1234440"/>
            <a:ext cx="6858000" cy="4389120"/>
            <a:chOff x="0" y="2468880"/>
            <a:chExt cx="11506200" cy="4389120"/>
          </a:xfrm>
        </p:grpSpPr>
        <p:grpSp>
          <p:nvGrpSpPr>
            <p:cNvPr id="5" name="Group 4">
              <a:extLst>
                <a:ext uri="{FF2B5EF4-FFF2-40B4-BE49-F238E27FC236}">
                  <a16:creationId xmlns:a16="http://schemas.microsoft.com/office/drawing/2014/main" id="{026CAF68-0D08-70BB-EAA9-DF21F5989F82}"/>
                </a:ext>
              </a:extLst>
            </p:cNvPr>
            <p:cNvGrpSpPr/>
            <p:nvPr/>
          </p:nvGrpSpPr>
          <p:grpSpPr>
            <a:xfrm>
              <a:off x="0" y="2468880"/>
              <a:ext cx="10474960" cy="2479039"/>
              <a:chOff x="213360" y="556576"/>
              <a:chExt cx="2458720" cy="2158683"/>
            </a:xfrm>
          </p:grpSpPr>
          <p:sp>
            <p:nvSpPr>
              <p:cNvPr id="10" name="Frame 9">
                <a:extLst>
                  <a:ext uri="{FF2B5EF4-FFF2-40B4-BE49-F238E27FC236}">
                    <a16:creationId xmlns:a16="http://schemas.microsoft.com/office/drawing/2014/main" id="{0C29D179-3B64-E740-A44A-F5812CBC2562}"/>
                  </a:ext>
                </a:extLst>
              </p:cNvPr>
              <p:cNvSpPr/>
              <p:nvPr/>
            </p:nvSpPr>
            <p:spPr>
              <a:xfrm>
                <a:off x="2286000" y="1796093"/>
                <a:ext cx="386080" cy="406399"/>
              </a:xfrm>
              <a:prstGeom prst="frame">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Frame 10">
                <a:extLst>
                  <a:ext uri="{FF2B5EF4-FFF2-40B4-BE49-F238E27FC236}">
                    <a16:creationId xmlns:a16="http://schemas.microsoft.com/office/drawing/2014/main" id="{760AF902-F148-341D-101D-1BB1A02570C3}"/>
                  </a:ext>
                </a:extLst>
              </p:cNvPr>
              <p:cNvSpPr/>
              <p:nvPr/>
            </p:nvSpPr>
            <p:spPr>
              <a:xfrm>
                <a:off x="1935480" y="2035882"/>
                <a:ext cx="518160" cy="425294"/>
              </a:xfrm>
              <a:prstGeom prst="frame">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a:extLst>
                  <a:ext uri="{FF2B5EF4-FFF2-40B4-BE49-F238E27FC236}">
                    <a16:creationId xmlns:a16="http://schemas.microsoft.com/office/drawing/2014/main" id="{A92B9222-D1EA-ECCA-C803-7C31AA3258FC}"/>
                  </a:ext>
                </a:extLst>
              </p:cNvPr>
              <p:cNvSpPr/>
              <p:nvPr/>
            </p:nvSpPr>
            <p:spPr>
              <a:xfrm>
                <a:off x="213360" y="556576"/>
                <a:ext cx="1489302" cy="1645916"/>
              </a:xfrm>
              <a:prstGeom prst="fram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Frame 12">
                <a:extLst>
                  <a:ext uri="{FF2B5EF4-FFF2-40B4-BE49-F238E27FC236}">
                    <a16:creationId xmlns:a16="http://schemas.microsoft.com/office/drawing/2014/main" id="{7C2B3877-A87B-D53B-DE7B-14B512F10161}"/>
                  </a:ext>
                </a:extLst>
              </p:cNvPr>
              <p:cNvSpPr/>
              <p:nvPr/>
            </p:nvSpPr>
            <p:spPr>
              <a:xfrm>
                <a:off x="889000" y="1587500"/>
                <a:ext cx="1148080" cy="1127759"/>
              </a:xfrm>
              <a:prstGeom prst="fram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a:extLst>
                  <a:ext uri="{FF2B5EF4-FFF2-40B4-BE49-F238E27FC236}">
                    <a16:creationId xmlns:a16="http://schemas.microsoft.com/office/drawing/2014/main" id="{3712AAF0-C3D8-23C4-5298-6ECB8B951617}"/>
                  </a:ext>
                </a:extLst>
              </p:cNvPr>
              <p:cNvSpPr/>
              <p:nvPr/>
            </p:nvSpPr>
            <p:spPr>
              <a:xfrm>
                <a:off x="731520" y="1351280"/>
                <a:ext cx="670560" cy="1127759"/>
              </a:xfrm>
              <a:prstGeom prst="fram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6" name="Rectangle 5">
              <a:extLst>
                <a:ext uri="{FF2B5EF4-FFF2-40B4-BE49-F238E27FC236}">
                  <a16:creationId xmlns:a16="http://schemas.microsoft.com/office/drawing/2014/main" id="{89155C5A-A9F9-651F-5164-02D91B6ED727}"/>
                </a:ext>
              </a:extLst>
            </p:cNvPr>
            <p:cNvSpPr/>
            <p:nvPr/>
          </p:nvSpPr>
          <p:spPr>
            <a:xfrm>
              <a:off x="0" y="3606802"/>
              <a:ext cx="11506200" cy="3251198"/>
            </a:xfrm>
            <a:prstGeom prst="rect">
              <a:avLst/>
            </a:prstGeom>
            <a:solidFill>
              <a:schemeClr val="accent2">
                <a:lumMod val="20000"/>
                <a:lumOff val="80000"/>
                <a:alpha val="45000"/>
              </a:schemeClr>
            </a:solidFill>
            <a:ln>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E84F9264-5EB8-9920-B677-03C2E8D51E12}"/>
                </a:ext>
              </a:extLst>
            </p:cNvPr>
            <p:cNvCxnSpPr/>
            <p:nvPr/>
          </p:nvCxnSpPr>
          <p:spPr>
            <a:xfrm>
              <a:off x="0" y="3602038"/>
              <a:ext cx="10104120" cy="0"/>
            </a:xfrm>
            <a:prstGeom prst="line">
              <a:avLst/>
            </a:prstGeom>
            <a:ln w="2540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10E4EDD-5C75-99ED-78D9-11F5EF597681}"/>
                </a:ext>
              </a:extLst>
            </p:cNvPr>
            <p:cNvCxnSpPr/>
            <p:nvPr/>
          </p:nvCxnSpPr>
          <p:spPr>
            <a:xfrm>
              <a:off x="167640" y="3509963"/>
              <a:ext cx="10104120" cy="0"/>
            </a:xfrm>
            <a:prstGeom prst="line">
              <a:avLst/>
            </a:prstGeom>
            <a:ln w="254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9A89A9B-0B6A-165D-0B5D-264F9BBCB26C}"/>
                </a:ext>
              </a:extLst>
            </p:cNvPr>
            <p:cNvCxnSpPr/>
            <p:nvPr/>
          </p:nvCxnSpPr>
          <p:spPr>
            <a:xfrm>
              <a:off x="370840" y="3556318"/>
              <a:ext cx="10104120" cy="0"/>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A084D6CE-1AA2-8CBF-D784-76EAC089B8FA}"/>
              </a:ext>
            </a:extLst>
          </p:cNvPr>
          <p:cNvSpPr>
            <a:spLocks noGrp="1"/>
          </p:cNvSpPr>
          <p:nvPr>
            <p:ph type="title"/>
          </p:nvPr>
        </p:nvSpPr>
        <p:spPr/>
        <p:txBody>
          <a:bodyPr/>
          <a:lstStyle/>
          <a:p>
            <a:r>
              <a:rPr lang="en-US" dirty="0">
                <a:effectLst>
                  <a:reflection blurRad="12700" stA="20000" endPos="30000" dist="12700" dir="5400000" sy="-100000" algn="bl" rotWithShape="0"/>
                </a:effectLst>
                <a:latin typeface="Avenir Next LT Pro Light" panose="020B0304020202020204" pitchFamily="34" charset="0"/>
              </a:rPr>
              <a:t>Agile Roles</a:t>
            </a:r>
          </a:p>
        </p:txBody>
      </p:sp>
      <p:sp>
        <p:nvSpPr>
          <p:cNvPr id="3" name="Content Placeholder 2">
            <a:extLst>
              <a:ext uri="{FF2B5EF4-FFF2-40B4-BE49-F238E27FC236}">
                <a16:creationId xmlns:a16="http://schemas.microsoft.com/office/drawing/2014/main" id="{F54DBBA4-09DC-AD71-3ACB-66991BFCF9E5}"/>
              </a:ext>
            </a:extLst>
          </p:cNvPr>
          <p:cNvSpPr>
            <a:spLocks noGrp="1"/>
          </p:cNvSpPr>
          <p:nvPr>
            <p:ph idx="1"/>
          </p:nvPr>
        </p:nvSpPr>
        <p:spPr/>
        <p:txBody>
          <a:bodyPr/>
          <a:lstStyle/>
          <a:p>
            <a:pPr marL="0" indent="0">
              <a:buNone/>
            </a:pPr>
            <a:r>
              <a:rPr lang="en-US" b="1" dirty="0">
                <a:latin typeface="Agency FB" panose="020B0503020202020204" pitchFamily="34" charset="0"/>
              </a:rPr>
              <a:t>Developers</a:t>
            </a:r>
          </a:p>
          <a:p>
            <a:r>
              <a:rPr lang="en-US" dirty="0">
                <a:latin typeface="Avenir Next LT Pro Light" panose="020B0304020202020204" pitchFamily="34" charset="0"/>
              </a:rPr>
              <a:t>They are the people who do the work/code for the product and complete the tasks during the Sprint.</a:t>
            </a:r>
          </a:p>
          <a:p>
            <a:r>
              <a:rPr lang="en-US" dirty="0">
                <a:latin typeface="Avenir Next LT Pro Light" panose="020B0304020202020204" pitchFamily="34" charset="0"/>
              </a:rPr>
              <a:t>They are responsible for providing a useable high-quality product by the end of the project deadline.</a:t>
            </a:r>
          </a:p>
          <a:p>
            <a:r>
              <a:rPr lang="en-US" dirty="0">
                <a:latin typeface="Avenir Next LT Pro Light" panose="020B0304020202020204" pitchFamily="34" charset="0"/>
              </a:rPr>
              <a:t>They are self organized and collaborate to map out goals and find the best technical way to get them done and achieve them.</a:t>
            </a:r>
          </a:p>
        </p:txBody>
      </p:sp>
      <p:grpSp>
        <p:nvGrpSpPr>
          <p:cNvPr id="19" name="Group 18">
            <a:extLst>
              <a:ext uri="{FF2B5EF4-FFF2-40B4-BE49-F238E27FC236}">
                <a16:creationId xmlns:a16="http://schemas.microsoft.com/office/drawing/2014/main" id="{75349D1D-F663-2C5A-1733-872C55CBADB6}"/>
              </a:ext>
            </a:extLst>
          </p:cNvPr>
          <p:cNvGrpSpPr/>
          <p:nvPr/>
        </p:nvGrpSpPr>
        <p:grpSpPr>
          <a:xfrm>
            <a:off x="0" y="1437956"/>
            <a:ext cx="10474960" cy="92075"/>
            <a:chOff x="0" y="3509963"/>
            <a:chExt cx="10474960" cy="92075"/>
          </a:xfrm>
        </p:grpSpPr>
        <p:cxnSp>
          <p:nvCxnSpPr>
            <p:cNvPr id="20" name="Straight Connector 19">
              <a:extLst>
                <a:ext uri="{FF2B5EF4-FFF2-40B4-BE49-F238E27FC236}">
                  <a16:creationId xmlns:a16="http://schemas.microsoft.com/office/drawing/2014/main" id="{F722DD9D-1C1D-EAD4-CE0C-DA7E56D28B77}"/>
                </a:ext>
              </a:extLst>
            </p:cNvPr>
            <p:cNvCxnSpPr/>
            <p:nvPr/>
          </p:nvCxnSpPr>
          <p:spPr>
            <a:xfrm>
              <a:off x="0" y="3602038"/>
              <a:ext cx="10104120" cy="0"/>
            </a:xfrm>
            <a:prstGeom prst="line">
              <a:avLst/>
            </a:prstGeom>
            <a:ln w="2540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31ACD83-EF68-C25B-97CB-3F4094E72983}"/>
                </a:ext>
              </a:extLst>
            </p:cNvPr>
            <p:cNvCxnSpPr/>
            <p:nvPr/>
          </p:nvCxnSpPr>
          <p:spPr>
            <a:xfrm>
              <a:off x="167640" y="3509963"/>
              <a:ext cx="10104120" cy="0"/>
            </a:xfrm>
            <a:prstGeom prst="line">
              <a:avLst/>
            </a:prstGeom>
            <a:ln w="254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5DFA6B2-8228-6C06-69AD-DD9872688EB2}"/>
                </a:ext>
              </a:extLst>
            </p:cNvPr>
            <p:cNvCxnSpPr/>
            <p:nvPr/>
          </p:nvCxnSpPr>
          <p:spPr>
            <a:xfrm>
              <a:off x="370840" y="3556318"/>
              <a:ext cx="10104120" cy="0"/>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23" name="TextBox 22">
            <a:extLst>
              <a:ext uri="{FF2B5EF4-FFF2-40B4-BE49-F238E27FC236}">
                <a16:creationId xmlns:a16="http://schemas.microsoft.com/office/drawing/2014/main" id="{D1550637-854D-B294-4773-AEB8570B60C1}"/>
              </a:ext>
            </a:extLst>
          </p:cNvPr>
          <p:cNvSpPr txBox="1"/>
          <p:nvPr/>
        </p:nvSpPr>
        <p:spPr>
          <a:xfrm>
            <a:off x="167640" y="6388751"/>
            <a:ext cx="609600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(Coursera Staff, 2025a)</a:t>
            </a:r>
          </a:p>
        </p:txBody>
      </p:sp>
    </p:spTree>
    <p:extLst>
      <p:ext uri="{BB962C8B-B14F-4D97-AF65-F5344CB8AC3E}">
        <p14:creationId xmlns:p14="http://schemas.microsoft.com/office/powerpoint/2010/main" val="30707926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93E54D8-BF69-BFAB-907B-62188BD1B7F2}"/>
              </a:ext>
            </a:extLst>
          </p:cNvPr>
          <p:cNvGrpSpPr/>
          <p:nvPr/>
        </p:nvGrpSpPr>
        <p:grpSpPr>
          <a:xfrm rot="16200000">
            <a:off x="6568440" y="1234440"/>
            <a:ext cx="6858000" cy="4389120"/>
            <a:chOff x="0" y="2468880"/>
            <a:chExt cx="11506200" cy="4389120"/>
          </a:xfrm>
        </p:grpSpPr>
        <p:grpSp>
          <p:nvGrpSpPr>
            <p:cNvPr id="5" name="Group 4">
              <a:extLst>
                <a:ext uri="{FF2B5EF4-FFF2-40B4-BE49-F238E27FC236}">
                  <a16:creationId xmlns:a16="http://schemas.microsoft.com/office/drawing/2014/main" id="{066453EC-FA79-3033-5D95-AF0DE497A889}"/>
                </a:ext>
              </a:extLst>
            </p:cNvPr>
            <p:cNvGrpSpPr/>
            <p:nvPr/>
          </p:nvGrpSpPr>
          <p:grpSpPr>
            <a:xfrm>
              <a:off x="0" y="2468880"/>
              <a:ext cx="10474960" cy="2479039"/>
              <a:chOff x="213360" y="556576"/>
              <a:chExt cx="2458720" cy="2158683"/>
            </a:xfrm>
          </p:grpSpPr>
          <p:sp>
            <p:nvSpPr>
              <p:cNvPr id="10" name="Frame 9">
                <a:extLst>
                  <a:ext uri="{FF2B5EF4-FFF2-40B4-BE49-F238E27FC236}">
                    <a16:creationId xmlns:a16="http://schemas.microsoft.com/office/drawing/2014/main" id="{E1E86944-C74A-B2B9-1ED0-AB1BB414BFA8}"/>
                  </a:ext>
                </a:extLst>
              </p:cNvPr>
              <p:cNvSpPr/>
              <p:nvPr/>
            </p:nvSpPr>
            <p:spPr>
              <a:xfrm>
                <a:off x="2286000" y="1796093"/>
                <a:ext cx="386080" cy="406399"/>
              </a:xfrm>
              <a:prstGeom prst="frame">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Frame 10">
                <a:extLst>
                  <a:ext uri="{FF2B5EF4-FFF2-40B4-BE49-F238E27FC236}">
                    <a16:creationId xmlns:a16="http://schemas.microsoft.com/office/drawing/2014/main" id="{E3720722-359E-14A7-9721-6B640F943038}"/>
                  </a:ext>
                </a:extLst>
              </p:cNvPr>
              <p:cNvSpPr/>
              <p:nvPr/>
            </p:nvSpPr>
            <p:spPr>
              <a:xfrm>
                <a:off x="1935480" y="2035882"/>
                <a:ext cx="518160" cy="425294"/>
              </a:xfrm>
              <a:prstGeom prst="frame">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a:extLst>
                  <a:ext uri="{FF2B5EF4-FFF2-40B4-BE49-F238E27FC236}">
                    <a16:creationId xmlns:a16="http://schemas.microsoft.com/office/drawing/2014/main" id="{17C9CB2F-D642-F256-C69F-82E27E5F7464}"/>
                  </a:ext>
                </a:extLst>
              </p:cNvPr>
              <p:cNvSpPr/>
              <p:nvPr/>
            </p:nvSpPr>
            <p:spPr>
              <a:xfrm>
                <a:off x="213360" y="556576"/>
                <a:ext cx="1489302" cy="1645916"/>
              </a:xfrm>
              <a:prstGeom prst="fram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Frame 12">
                <a:extLst>
                  <a:ext uri="{FF2B5EF4-FFF2-40B4-BE49-F238E27FC236}">
                    <a16:creationId xmlns:a16="http://schemas.microsoft.com/office/drawing/2014/main" id="{900B9769-7782-0DD6-4B79-3A03BD43E096}"/>
                  </a:ext>
                </a:extLst>
              </p:cNvPr>
              <p:cNvSpPr/>
              <p:nvPr/>
            </p:nvSpPr>
            <p:spPr>
              <a:xfrm>
                <a:off x="889000" y="1587500"/>
                <a:ext cx="1148080" cy="1127759"/>
              </a:xfrm>
              <a:prstGeom prst="fram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a:extLst>
                  <a:ext uri="{FF2B5EF4-FFF2-40B4-BE49-F238E27FC236}">
                    <a16:creationId xmlns:a16="http://schemas.microsoft.com/office/drawing/2014/main" id="{188373F0-600C-4011-5E85-4A0687E580B4}"/>
                  </a:ext>
                </a:extLst>
              </p:cNvPr>
              <p:cNvSpPr/>
              <p:nvPr/>
            </p:nvSpPr>
            <p:spPr>
              <a:xfrm>
                <a:off x="731520" y="1351280"/>
                <a:ext cx="670560" cy="1127759"/>
              </a:xfrm>
              <a:prstGeom prst="fram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6" name="Rectangle 5">
              <a:extLst>
                <a:ext uri="{FF2B5EF4-FFF2-40B4-BE49-F238E27FC236}">
                  <a16:creationId xmlns:a16="http://schemas.microsoft.com/office/drawing/2014/main" id="{CBA4FC0A-5548-60BB-71BE-F68E8E5BD111}"/>
                </a:ext>
              </a:extLst>
            </p:cNvPr>
            <p:cNvSpPr/>
            <p:nvPr/>
          </p:nvSpPr>
          <p:spPr>
            <a:xfrm>
              <a:off x="0" y="3606802"/>
              <a:ext cx="11506200" cy="3251198"/>
            </a:xfrm>
            <a:prstGeom prst="rect">
              <a:avLst/>
            </a:prstGeom>
            <a:solidFill>
              <a:schemeClr val="accent2">
                <a:lumMod val="20000"/>
                <a:lumOff val="80000"/>
                <a:alpha val="45000"/>
              </a:schemeClr>
            </a:solidFill>
            <a:ln>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62A3A6B2-C846-FECF-C140-DFDE978FAF89}"/>
                </a:ext>
              </a:extLst>
            </p:cNvPr>
            <p:cNvCxnSpPr/>
            <p:nvPr/>
          </p:nvCxnSpPr>
          <p:spPr>
            <a:xfrm>
              <a:off x="0" y="3602038"/>
              <a:ext cx="10104120" cy="0"/>
            </a:xfrm>
            <a:prstGeom prst="line">
              <a:avLst/>
            </a:prstGeom>
            <a:ln w="2540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645BD39-9B5E-F5CA-8763-D058CCBAA378}"/>
                </a:ext>
              </a:extLst>
            </p:cNvPr>
            <p:cNvCxnSpPr/>
            <p:nvPr/>
          </p:nvCxnSpPr>
          <p:spPr>
            <a:xfrm>
              <a:off x="167640" y="3509963"/>
              <a:ext cx="10104120" cy="0"/>
            </a:xfrm>
            <a:prstGeom prst="line">
              <a:avLst/>
            </a:prstGeom>
            <a:ln w="254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2423626-53CF-9633-E313-DC152815E9F8}"/>
                </a:ext>
              </a:extLst>
            </p:cNvPr>
            <p:cNvCxnSpPr/>
            <p:nvPr/>
          </p:nvCxnSpPr>
          <p:spPr>
            <a:xfrm>
              <a:off x="370840" y="3556318"/>
              <a:ext cx="10104120" cy="0"/>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56C34523-C406-E17E-C8C5-FBF8B876C0F2}"/>
              </a:ext>
            </a:extLst>
          </p:cNvPr>
          <p:cNvSpPr>
            <a:spLocks noGrp="1"/>
          </p:cNvSpPr>
          <p:nvPr>
            <p:ph type="title"/>
          </p:nvPr>
        </p:nvSpPr>
        <p:spPr/>
        <p:txBody>
          <a:bodyPr/>
          <a:lstStyle/>
          <a:p>
            <a:r>
              <a:rPr lang="en-US" dirty="0">
                <a:effectLst>
                  <a:reflection blurRad="12700" stA="20000" endPos="30000" dist="12700" dir="5400000" sy="-100000" algn="bl" rotWithShape="0"/>
                </a:effectLst>
                <a:latin typeface="Avenir Next LT Pro Light" panose="020B0304020202020204" pitchFamily="34" charset="0"/>
              </a:rPr>
              <a:t>Agile Roles</a:t>
            </a:r>
          </a:p>
        </p:txBody>
      </p:sp>
      <p:sp>
        <p:nvSpPr>
          <p:cNvPr id="3" name="Content Placeholder 2">
            <a:extLst>
              <a:ext uri="{FF2B5EF4-FFF2-40B4-BE49-F238E27FC236}">
                <a16:creationId xmlns:a16="http://schemas.microsoft.com/office/drawing/2014/main" id="{229A7234-3588-A18F-E3E3-301018B8F472}"/>
              </a:ext>
            </a:extLst>
          </p:cNvPr>
          <p:cNvSpPr>
            <a:spLocks noGrp="1"/>
          </p:cNvSpPr>
          <p:nvPr>
            <p:ph idx="1"/>
          </p:nvPr>
        </p:nvSpPr>
        <p:spPr/>
        <p:txBody>
          <a:bodyPr/>
          <a:lstStyle/>
          <a:p>
            <a:pPr marL="0" indent="0">
              <a:buNone/>
            </a:pPr>
            <a:r>
              <a:rPr lang="en-US" b="1" dirty="0">
                <a:latin typeface="Agency FB" panose="020B0503020202020204" pitchFamily="34" charset="0"/>
              </a:rPr>
              <a:t>Testers</a:t>
            </a:r>
          </a:p>
          <a:p>
            <a:r>
              <a:rPr lang="en-US" dirty="0">
                <a:latin typeface="Avenir Next LT Pro Light" panose="020B0304020202020204" pitchFamily="34" charset="0"/>
              </a:rPr>
              <a:t>They create test cases to state what the function of an item is and what its expected results will be.</a:t>
            </a:r>
          </a:p>
          <a:p>
            <a:r>
              <a:rPr lang="en-US" dirty="0">
                <a:latin typeface="Avenir Next LT Pro Light" panose="020B0304020202020204" pitchFamily="34" charset="0"/>
              </a:rPr>
              <a:t>They are responsible for preventing a faulty product and keeping the user experience from becoming unpleasant.</a:t>
            </a:r>
          </a:p>
          <a:p>
            <a:r>
              <a:rPr lang="en-US" dirty="0">
                <a:latin typeface="Avenir Next LT Pro Light" panose="020B0304020202020204" pitchFamily="34" charset="0"/>
              </a:rPr>
              <a:t>They try to “break” the product to find any glitches/bugs to fix issues before releasing the product out to the customers.</a:t>
            </a:r>
          </a:p>
          <a:p>
            <a:r>
              <a:rPr lang="en-US" dirty="0">
                <a:latin typeface="Avenir Next LT Pro Light" panose="020B0304020202020204" pitchFamily="34" charset="0"/>
              </a:rPr>
              <a:t>They ensure that when adding new features, it does not hurt the existing security of the application.</a:t>
            </a:r>
          </a:p>
        </p:txBody>
      </p:sp>
      <p:grpSp>
        <p:nvGrpSpPr>
          <p:cNvPr id="15" name="Group 14">
            <a:extLst>
              <a:ext uri="{FF2B5EF4-FFF2-40B4-BE49-F238E27FC236}">
                <a16:creationId xmlns:a16="http://schemas.microsoft.com/office/drawing/2014/main" id="{D10945B4-B025-FF51-040F-C4AA6F09D108}"/>
              </a:ext>
            </a:extLst>
          </p:cNvPr>
          <p:cNvGrpSpPr/>
          <p:nvPr/>
        </p:nvGrpSpPr>
        <p:grpSpPr>
          <a:xfrm>
            <a:off x="0" y="1437956"/>
            <a:ext cx="10474960" cy="92075"/>
            <a:chOff x="0" y="3509963"/>
            <a:chExt cx="10474960" cy="92075"/>
          </a:xfrm>
        </p:grpSpPr>
        <p:cxnSp>
          <p:nvCxnSpPr>
            <p:cNvPr id="16" name="Straight Connector 15">
              <a:extLst>
                <a:ext uri="{FF2B5EF4-FFF2-40B4-BE49-F238E27FC236}">
                  <a16:creationId xmlns:a16="http://schemas.microsoft.com/office/drawing/2014/main" id="{16FD886E-04DC-96B0-384F-14C004BFEE96}"/>
                </a:ext>
              </a:extLst>
            </p:cNvPr>
            <p:cNvCxnSpPr/>
            <p:nvPr/>
          </p:nvCxnSpPr>
          <p:spPr>
            <a:xfrm>
              <a:off x="0" y="3602038"/>
              <a:ext cx="10104120" cy="0"/>
            </a:xfrm>
            <a:prstGeom prst="line">
              <a:avLst/>
            </a:prstGeom>
            <a:ln w="2540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F91CF64-F5CE-2E28-961F-6A3A985928BD}"/>
                </a:ext>
              </a:extLst>
            </p:cNvPr>
            <p:cNvCxnSpPr/>
            <p:nvPr/>
          </p:nvCxnSpPr>
          <p:spPr>
            <a:xfrm>
              <a:off x="167640" y="3509963"/>
              <a:ext cx="10104120" cy="0"/>
            </a:xfrm>
            <a:prstGeom prst="line">
              <a:avLst/>
            </a:prstGeom>
            <a:ln w="254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507DED3-98B0-6E28-D272-B9224BFC4CCA}"/>
                </a:ext>
              </a:extLst>
            </p:cNvPr>
            <p:cNvCxnSpPr/>
            <p:nvPr/>
          </p:nvCxnSpPr>
          <p:spPr>
            <a:xfrm>
              <a:off x="370840" y="3556318"/>
              <a:ext cx="10104120" cy="0"/>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20" name="TextBox 19">
            <a:extLst>
              <a:ext uri="{FF2B5EF4-FFF2-40B4-BE49-F238E27FC236}">
                <a16:creationId xmlns:a16="http://schemas.microsoft.com/office/drawing/2014/main" id="{770CE1AD-4AD6-22BA-8A05-7E38B68EBD3D}"/>
              </a:ext>
            </a:extLst>
          </p:cNvPr>
          <p:cNvSpPr txBox="1"/>
          <p:nvPr/>
        </p:nvSpPr>
        <p:spPr>
          <a:xfrm>
            <a:off x="167640" y="6388751"/>
            <a:ext cx="609600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(Coursera Staff, 2025b)</a:t>
            </a:r>
          </a:p>
        </p:txBody>
      </p:sp>
    </p:spTree>
    <p:extLst>
      <p:ext uri="{BB962C8B-B14F-4D97-AF65-F5344CB8AC3E}">
        <p14:creationId xmlns:p14="http://schemas.microsoft.com/office/powerpoint/2010/main" val="3953495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7356B0C-70CB-165F-297D-5001BBBBC3B5}"/>
              </a:ext>
            </a:extLst>
          </p:cNvPr>
          <p:cNvGrpSpPr/>
          <p:nvPr/>
        </p:nvGrpSpPr>
        <p:grpSpPr>
          <a:xfrm rot="16200000">
            <a:off x="6568440" y="1234440"/>
            <a:ext cx="6858000" cy="4389120"/>
            <a:chOff x="0" y="2468880"/>
            <a:chExt cx="11506200" cy="4389120"/>
          </a:xfrm>
        </p:grpSpPr>
        <p:grpSp>
          <p:nvGrpSpPr>
            <p:cNvPr id="5" name="Group 4">
              <a:extLst>
                <a:ext uri="{FF2B5EF4-FFF2-40B4-BE49-F238E27FC236}">
                  <a16:creationId xmlns:a16="http://schemas.microsoft.com/office/drawing/2014/main" id="{2BD666CF-47B8-6F92-AA70-CB8B5B526797}"/>
                </a:ext>
              </a:extLst>
            </p:cNvPr>
            <p:cNvGrpSpPr/>
            <p:nvPr/>
          </p:nvGrpSpPr>
          <p:grpSpPr>
            <a:xfrm>
              <a:off x="0" y="2468880"/>
              <a:ext cx="10474960" cy="2479039"/>
              <a:chOff x="213360" y="556576"/>
              <a:chExt cx="2458720" cy="2158683"/>
            </a:xfrm>
          </p:grpSpPr>
          <p:sp>
            <p:nvSpPr>
              <p:cNvPr id="10" name="Frame 9">
                <a:extLst>
                  <a:ext uri="{FF2B5EF4-FFF2-40B4-BE49-F238E27FC236}">
                    <a16:creationId xmlns:a16="http://schemas.microsoft.com/office/drawing/2014/main" id="{6D4F227B-DAB1-45E4-AB24-98F65ADB50E1}"/>
                  </a:ext>
                </a:extLst>
              </p:cNvPr>
              <p:cNvSpPr/>
              <p:nvPr/>
            </p:nvSpPr>
            <p:spPr>
              <a:xfrm>
                <a:off x="2286000" y="1796093"/>
                <a:ext cx="386080" cy="406399"/>
              </a:xfrm>
              <a:prstGeom prst="frame">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Frame 10">
                <a:extLst>
                  <a:ext uri="{FF2B5EF4-FFF2-40B4-BE49-F238E27FC236}">
                    <a16:creationId xmlns:a16="http://schemas.microsoft.com/office/drawing/2014/main" id="{9C5EA6E9-9ACC-D011-7F3E-16647779E184}"/>
                  </a:ext>
                </a:extLst>
              </p:cNvPr>
              <p:cNvSpPr/>
              <p:nvPr/>
            </p:nvSpPr>
            <p:spPr>
              <a:xfrm>
                <a:off x="1935480" y="2035882"/>
                <a:ext cx="518160" cy="425294"/>
              </a:xfrm>
              <a:prstGeom prst="frame">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a:extLst>
                  <a:ext uri="{FF2B5EF4-FFF2-40B4-BE49-F238E27FC236}">
                    <a16:creationId xmlns:a16="http://schemas.microsoft.com/office/drawing/2014/main" id="{D2867D7B-AC73-4D82-3144-07C437475B2B}"/>
                  </a:ext>
                </a:extLst>
              </p:cNvPr>
              <p:cNvSpPr/>
              <p:nvPr/>
            </p:nvSpPr>
            <p:spPr>
              <a:xfrm>
                <a:off x="213360" y="556576"/>
                <a:ext cx="1489302" cy="1645916"/>
              </a:xfrm>
              <a:prstGeom prst="fram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Frame 12">
                <a:extLst>
                  <a:ext uri="{FF2B5EF4-FFF2-40B4-BE49-F238E27FC236}">
                    <a16:creationId xmlns:a16="http://schemas.microsoft.com/office/drawing/2014/main" id="{0E9AB250-27A0-5EE1-3E32-26A1D051E81D}"/>
                  </a:ext>
                </a:extLst>
              </p:cNvPr>
              <p:cNvSpPr/>
              <p:nvPr/>
            </p:nvSpPr>
            <p:spPr>
              <a:xfrm>
                <a:off x="889000" y="1587500"/>
                <a:ext cx="1148080" cy="1127759"/>
              </a:xfrm>
              <a:prstGeom prst="fram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a:extLst>
                  <a:ext uri="{FF2B5EF4-FFF2-40B4-BE49-F238E27FC236}">
                    <a16:creationId xmlns:a16="http://schemas.microsoft.com/office/drawing/2014/main" id="{7C73CCCF-E91C-0387-9CB1-D9434C5C5B27}"/>
                  </a:ext>
                </a:extLst>
              </p:cNvPr>
              <p:cNvSpPr/>
              <p:nvPr/>
            </p:nvSpPr>
            <p:spPr>
              <a:xfrm>
                <a:off x="731520" y="1351280"/>
                <a:ext cx="670560" cy="1127759"/>
              </a:xfrm>
              <a:prstGeom prst="fram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6" name="Rectangle 5">
              <a:extLst>
                <a:ext uri="{FF2B5EF4-FFF2-40B4-BE49-F238E27FC236}">
                  <a16:creationId xmlns:a16="http://schemas.microsoft.com/office/drawing/2014/main" id="{60A8B860-F700-F8B5-036B-3159A9A1794A}"/>
                </a:ext>
              </a:extLst>
            </p:cNvPr>
            <p:cNvSpPr/>
            <p:nvPr/>
          </p:nvSpPr>
          <p:spPr>
            <a:xfrm>
              <a:off x="0" y="3606802"/>
              <a:ext cx="11506200" cy="3251198"/>
            </a:xfrm>
            <a:prstGeom prst="rect">
              <a:avLst/>
            </a:prstGeom>
            <a:solidFill>
              <a:schemeClr val="accent2">
                <a:lumMod val="20000"/>
                <a:lumOff val="80000"/>
                <a:alpha val="45000"/>
              </a:schemeClr>
            </a:solidFill>
            <a:ln>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8E508306-31D2-6E78-AD5F-4C14DEEC8EB4}"/>
                </a:ext>
              </a:extLst>
            </p:cNvPr>
            <p:cNvCxnSpPr/>
            <p:nvPr/>
          </p:nvCxnSpPr>
          <p:spPr>
            <a:xfrm>
              <a:off x="0" y="3602038"/>
              <a:ext cx="10104120" cy="0"/>
            </a:xfrm>
            <a:prstGeom prst="line">
              <a:avLst/>
            </a:prstGeom>
            <a:ln w="2540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B46DE5-E73D-A0B7-D212-EFC8596BED67}"/>
                </a:ext>
              </a:extLst>
            </p:cNvPr>
            <p:cNvCxnSpPr/>
            <p:nvPr/>
          </p:nvCxnSpPr>
          <p:spPr>
            <a:xfrm>
              <a:off x="167640" y="3509963"/>
              <a:ext cx="10104120" cy="0"/>
            </a:xfrm>
            <a:prstGeom prst="line">
              <a:avLst/>
            </a:prstGeom>
            <a:ln w="254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D1280A0-82B2-F8E5-7675-F680AC1719F0}"/>
                </a:ext>
              </a:extLst>
            </p:cNvPr>
            <p:cNvCxnSpPr/>
            <p:nvPr/>
          </p:nvCxnSpPr>
          <p:spPr>
            <a:xfrm>
              <a:off x="370840" y="3556318"/>
              <a:ext cx="10104120" cy="0"/>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9935943E-A753-42C2-832D-D246B0516E5A}"/>
              </a:ext>
            </a:extLst>
          </p:cNvPr>
          <p:cNvSpPr>
            <a:spLocks noGrp="1"/>
          </p:cNvSpPr>
          <p:nvPr>
            <p:ph type="title"/>
          </p:nvPr>
        </p:nvSpPr>
        <p:spPr/>
        <p:txBody>
          <a:bodyPr/>
          <a:lstStyle/>
          <a:p>
            <a:r>
              <a:rPr lang="en-US" dirty="0">
                <a:effectLst>
                  <a:reflection blurRad="12700" stA="20000" endPos="30000" dist="12700" dir="5400000" sy="-100000" algn="bl" rotWithShape="0"/>
                </a:effectLst>
                <a:latin typeface="Avenir Next LT Pro Light" panose="020B0304020202020204" pitchFamily="34" charset="0"/>
              </a:rPr>
              <a:t>Agile Phases</a:t>
            </a:r>
          </a:p>
        </p:txBody>
      </p:sp>
      <p:sp>
        <p:nvSpPr>
          <p:cNvPr id="3" name="Content Placeholder 2">
            <a:extLst>
              <a:ext uri="{FF2B5EF4-FFF2-40B4-BE49-F238E27FC236}">
                <a16:creationId xmlns:a16="http://schemas.microsoft.com/office/drawing/2014/main" id="{8D63B0B5-53DB-D415-2261-A0946F8F532C}"/>
              </a:ext>
            </a:extLst>
          </p:cNvPr>
          <p:cNvSpPr>
            <a:spLocks noGrp="1"/>
          </p:cNvSpPr>
          <p:nvPr>
            <p:ph idx="1"/>
          </p:nvPr>
        </p:nvSpPr>
        <p:spPr/>
        <p:txBody>
          <a:bodyPr/>
          <a:lstStyle/>
          <a:p>
            <a:pPr marL="0" indent="0">
              <a:buNone/>
            </a:pPr>
            <a:r>
              <a:rPr lang="en-US" dirty="0">
                <a:latin typeface="Agency FB" panose="020B0503020202020204" pitchFamily="34" charset="0"/>
              </a:rPr>
              <a:t>A team using Agile will follow a structured repeating iteration cycle.</a:t>
            </a:r>
          </a:p>
          <a:p>
            <a:pPr marL="0" indent="0">
              <a:buNone/>
            </a:pPr>
            <a:r>
              <a:rPr lang="en-US" b="1" dirty="0">
                <a:latin typeface="Agency FB" panose="020B0503020202020204" pitchFamily="34" charset="0"/>
              </a:rPr>
              <a:t>Planning</a:t>
            </a:r>
          </a:p>
          <a:p>
            <a:r>
              <a:rPr lang="en-US" dirty="0">
                <a:latin typeface="Avenir Next LT Pro Light" panose="020B0304020202020204" pitchFamily="34" charset="0"/>
              </a:rPr>
              <a:t>The team collaborates with stakeholders to define the projects vision and prioritize the initial features of what the product will be and what it will do for the customers.</a:t>
            </a:r>
          </a:p>
          <a:p>
            <a:r>
              <a:rPr lang="en-US" dirty="0">
                <a:latin typeface="Avenir Next LT Pro Light" panose="020B0304020202020204" pitchFamily="34" charset="0"/>
              </a:rPr>
              <a:t>Research is done to see what competitors are doing to ensure the best quality, and the team estimates costs of the project.</a:t>
            </a:r>
          </a:p>
        </p:txBody>
      </p:sp>
      <p:grpSp>
        <p:nvGrpSpPr>
          <p:cNvPr id="15" name="Group 14">
            <a:extLst>
              <a:ext uri="{FF2B5EF4-FFF2-40B4-BE49-F238E27FC236}">
                <a16:creationId xmlns:a16="http://schemas.microsoft.com/office/drawing/2014/main" id="{878A2B78-6D41-ADD4-2B00-5E3C35D85663}"/>
              </a:ext>
            </a:extLst>
          </p:cNvPr>
          <p:cNvGrpSpPr/>
          <p:nvPr/>
        </p:nvGrpSpPr>
        <p:grpSpPr>
          <a:xfrm>
            <a:off x="0" y="1437956"/>
            <a:ext cx="10474960" cy="92075"/>
            <a:chOff x="0" y="3509963"/>
            <a:chExt cx="10474960" cy="92075"/>
          </a:xfrm>
        </p:grpSpPr>
        <p:cxnSp>
          <p:nvCxnSpPr>
            <p:cNvPr id="16" name="Straight Connector 15">
              <a:extLst>
                <a:ext uri="{FF2B5EF4-FFF2-40B4-BE49-F238E27FC236}">
                  <a16:creationId xmlns:a16="http://schemas.microsoft.com/office/drawing/2014/main" id="{EAE66320-89E7-B915-92A4-9812EBF5D07E}"/>
                </a:ext>
              </a:extLst>
            </p:cNvPr>
            <p:cNvCxnSpPr/>
            <p:nvPr/>
          </p:nvCxnSpPr>
          <p:spPr>
            <a:xfrm>
              <a:off x="0" y="3602038"/>
              <a:ext cx="10104120" cy="0"/>
            </a:xfrm>
            <a:prstGeom prst="line">
              <a:avLst/>
            </a:prstGeom>
            <a:ln w="2540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C4AD629-2877-AD6D-8E16-A835C04DEA98}"/>
                </a:ext>
              </a:extLst>
            </p:cNvPr>
            <p:cNvCxnSpPr/>
            <p:nvPr/>
          </p:nvCxnSpPr>
          <p:spPr>
            <a:xfrm>
              <a:off x="167640" y="3509963"/>
              <a:ext cx="10104120" cy="0"/>
            </a:xfrm>
            <a:prstGeom prst="line">
              <a:avLst/>
            </a:prstGeom>
            <a:ln w="254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E7CB326-5AA1-D7E8-EE07-3FE98A21F459}"/>
                </a:ext>
              </a:extLst>
            </p:cNvPr>
            <p:cNvCxnSpPr/>
            <p:nvPr/>
          </p:nvCxnSpPr>
          <p:spPr>
            <a:xfrm>
              <a:off x="370840" y="3556318"/>
              <a:ext cx="10104120" cy="0"/>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20" name="TextBox 19">
            <a:extLst>
              <a:ext uri="{FF2B5EF4-FFF2-40B4-BE49-F238E27FC236}">
                <a16:creationId xmlns:a16="http://schemas.microsoft.com/office/drawing/2014/main" id="{67425E5F-169C-ABBF-50B0-2BF2AE5C42D2}"/>
              </a:ext>
            </a:extLst>
          </p:cNvPr>
          <p:cNvSpPr txBox="1"/>
          <p:nvPr/>
        </p:nvSpPr>
        <p:spPr>
          <a:xfrm>
            <a:off x="167640" y="6388751"/>
            <a:ext cx="609600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(Hartshorne, 2025)</a:t>
            </a:r>
          </a:p>
        </p:txBody>
      </p:sp>
      <p:sp>
        <p:nvSpPr>
          <p:cNvPr id="22" name="TextBox 21">
            <a:extLst>
              <a:ext uri="{FF2B5EF4-FFF2-40B4-BE49-F238E27FC236}">
                <a16:creationId xmlns:a16="http://schemas.microsoft.com/office/drawing/2014/main" id="{8DF1CBF2-827C-AD70-93B4-16A848E9A16F}"/>
              </a:ext>
            </a:extLst>
          </p:cNvPr>
          <p:cNvSpPr txBox="1"/>
          <p:nvPr/>
        </p:nvSpPr>
        <p:spPr>
          <a:xfrm>
            <a:off x="167640" y="6019419"/>
            <a:ext cx="609600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(Nguyen, 2024)</a:t>
            </a:r>
          </a:p>
        </p:txBody>
      </p:sp>
    </p:spTree>
    <p:extLst>
      <p:ext uri="{BB962C8B-B14F-4D97-AF65-F5344CB8AC3E}">
        <p14:creationId xmlns:p14="http://schemas.microsoft.com/office/powerpoint/2010/main" val="18696636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C007C5D-29A7-514B-0747-963F4AD0C53B}"/>
              </a:ext>
            </a:extLst>
          </p:cNvPr>
          <p:cNvGrpSpPr/>
          <p:nvPr/>
        </p:nvGrpSpPr>
        <p:grpSpPr>
          <a:xfrm rot="16200000">
            <a:off x="6568440" y="1234440"/>
            <a:ext cx="6858000" cy="4389120"/>
            <a:chOff x="0" y="2468880"/>
            <a:chExt cx="11506200" cy="4389120"/>
          </a:xfrm>
        </p:grpSpPr>
        <p:grpSp>
          <p:nvGrpSpPr>
            <p:cNvPr id="5" name="Group 4">
              <a:extLst>
                <a:ext uri="{FF2B5EF4-FFF2-40B4-BE49-F238E27FC236}">
                  <a16:creationId xmlns:a16="http://schemas.microsoft.com/office/drawing/2014/main" id="{05BF5F28-8F35-4E70-C012-E1EC1F22F861}"/>
                </a:ext>
              </a:extLst>
            </p:cNvPr>
            <p:cNvGrpSpPr/>
            <p:nvPr/>
          </p:nvGrpSpPr>
          <p:grpSpPr>
            <a:xfrm>
              <a:off x="0" y="2468880"/>
              <a:ext cx="10474960" cy="2479039"/>
              <a:chOff x="213360" y="556576"/>
              <a:chExt cx="2458720" cy="2158683"/>
            </a:xfrm>
          </p:grpSpPr>
          <p:sp>
            <p:nvSpPr>
              <p:cNvPr id="10" name="Frame 9">
                <a:extLst>
                  <a:ext uri="{FF2B5EF4-FFF2-40B4-BE49-F238E27FC236}">
                    <a16:creationId xmlns:a16="http://schemas.microsoft.com/office/drawing/2014/main" id="{60671983-DA53-FA0C-7320-2C629496B11F}"/>
                  </a:ext>
                </a:extLst>
              </p:cNvPr>
              <p:cNvSpPr/>
              <p:nvPr/>
            </p:nvSpPr>
            <p:spPr>
              <a:xfrm>
                <a:off x="2286000" y="1796093"/>
                <a:ext cx="386080" cy="406399"/>
              </a:xfrm>
              <a:prstGeom prst="frame">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Frame 10">
                <a:extLst>
                  <a:ext uri="{FF2B5EF4-FFF2-40B4-BE49-F238E27FC236}">
                    <a16:creationId xmlns:a16="http://schemas.microsoft.com/office/drawing/2014/main" id="{693F3BEE-5242-15BB-44BE-22CD4B3F9336}"/>
                  </a:ext>
                </a:extLst>
              </p:cNvPr>
              <p:cNvSpPr/>
              <p:nvPr/>
            </p:nvSpPr>
            <p:spPr>
              <a:xfrm>
                <a:off x="1935480" y="2035882"/>
                <a:ext cx="518160" cy="425294"/>
              </a:xfrm>
              <a:prstGeom prst="frame">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a:extLst>
                  <a:ext uri="{FF2B5EF4-FFF2-40B4-BE49-F238E27FC236}">
                    <a16:creationId xmlns:a16="http://schemas.microsoft.com/office/drawing/2014/main" id="{A899228D-F926-53D8-BE0D-C8881B03443D}"/>
                  </a:ext>
                </a:extLst>
              </p:cNvPr>
              <p:cNvSpPr/>
              <p:nvPr/>
            </p:nvSpPr>
            <p:spPr>
              <a:xfrm>
                <a:off x="213360" y="556576"/>
                <a:ext cx="1489302" cy="1645916"/>
              </a:xfrm>
              <a:prstGeom prst="fram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Frame 12">
                <a:extLst>
                  <a:ext uri="{FF2B5EF4-FFF2-40B4-BE49-F238E27FC236}">
                    <a16:creationId xmlns:a16="http://schemas.microsoft.com/office/drawing/2014/main" id="{E4280E84-8466-0E7D-F807-510E63CF2C34}"/>
                  </a:ext>
                </a:extLst>
              </p:cNvPr>
              <p:cNvSpPr/>
              <p:nvPr/>
            </p:nvSpPr>
            <p:spPr>
              <a:xfrm>
                <a:off x="889000" y="1587500"/>
                <a:ext cx="1148080" cy="1127759"/>
              </a:xfrm>
              <a:prstGeom prst="fram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a:extLst>
                  <a:ext uri="{FF2B5EF4-FFF2-40B4-BE49-F238E27FC236}">
                    <a16:creationId xmlns:a16="http://schemas.microsoft.com/office/drawing/2014/main" id="{6CC180D8-750B-81D3-B5AB-48C75188201F}"/>
                  </a:ext>
                </a:extLst>
              </p:cNvPr>
              <p:cNvSpPr/>
              <p:nvPr/>
            </p:nvSpPr>
            <p:spPr>
              <a:xfrm>
                <a:off x="731520" y="1351280"/>
                <a:ext cx="670560" cy="1127759"/>
              </a:xfrm>
              <a:prstGeom prst="fram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6" name="Rectangle 5">
              <a:extLst>
                <a:ext uri="{FF2B5EF4-FFF2-40B4-BE49-F238E27FC236}">
                  <a16:creationId xmlns:a16="http://schemas.microsoft.com/office/drawing/2014/main" id="{F46B8700-42CE-1491-F286-03EE044B384C}"/>
                </a:ext>
              </a:extLst>
            </p:cNvPr>
            <p:cNvSpPr/>
            <p:nvPr/>
          </p:nvSpPr>
          <p:spPr>
            <a:xfrm>
              <a:off x="0" y="3606802"/>
              <a:ext cx="11506200" cy="3251198"/>
            </a:xfrm>
            <a:prstGeom prst="rect">
              <a:avLst/>
            </a:prstGeom>
            <a:solidFill>
              <a:schemeClr val="accent2">
                <a:lumMod val="20000"/>
                <a:lumOff val="80000"/>
                <a:alpha val="45000"/>
              </a:schemeClr>
            </a:solidFill>
            <a:ln>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F1DE242D-17E4-8A0C-6B44-9DCFDD3E3052}"/>
                </a:ext>
              </a:extLst>
            </p:cNvPr>
            <p:cNvCxnSpPr/>
            <p:nvPr/>
          </p:nvCxnSpPr>
          <p:spPr>
            <a:xfrm>
              <a:off x="0" y="3602038"/>
              <a:ext cx="10104120" cy="0"/>
            </a:xfrm>
            <a:prstGeom prst="line">
              <a:avLst/>
            </a:prstGeom>
            <a:ln w="2540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4293E80-FE73-934F-30F9-044A342598A9}"/>
                </a:ext>
              </a:extLst>
            </p:cNvPr>
            <p:cNvCxnSpPr/>
            <p:nvPr/>
          </p:nvCxnSpPr>
          <p:spPr>
            <a:xfrm>
              <a:off x="167640" y="3509963"/>
              <a:ext cx="10104120" cy="0"/>
            </a:xfrm>
            <a:prstGeom prst="line">
              <a:avLst/>
            </a:prstGeom>
            <a:ln w="254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8BB1311-52DB-64DC-2A68-17150E76C25C}"/>
                </a:ext>
              </a:extLst>
            </p:cNvPr>
            <p:cNvCxnSpPr/>
            <p:nvPr/>
          </p:nvCxnSpPr>
          <p:spPr>
            <a:xfrm>
              <a:off x="370840" y="3556318"/>
              <a:ext cx="10104120" cy="0"/>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1139F86C-F0A9-0175-F9E6-595E87AEF16D}"/>
              </a:ext>
            </a:extLst>
          </p:cNvPr>
          <p:cNvSpPr>
            <a:spLocks noGrp="1"/>
          </p:cNvSpPr>
          <p:nvPr>
            <p:ph type="title"/>
          </p:nvPr>
        </p:nvSpPr>
        <p:spPr/>
        <p:txBody>
          <a:bodyPr/>
          <a:lstStyle/>
          <a:p>
            <a:r>
              <a:rPr lang="en-US" dirty="0">
                <a:effectLst>
                  <a:reflection blurRad="12700" stA="20000" endPos="30000" dist="12700" dir="5400000" sy="-100000" algn="bl" rotWithShape="0"/>
                </a:effectLst>
                <a:latin typeface="Avenir Next LT Pro Light" panose="020B0304020202020204" pitchFamily="34" charset="0"/>
              </a:rPr>
              <a:t>Agile Phases</a:t>
            </a:r>
          </a:p>
        </p:txBody>
      </p:sp>
      <p:sp>
        <p:nvSpPr>
          <p:cNvPr id="3" name="Content Placeholder 2">
            <a:extLst>
              <a:ext uri="{FF2B5EF4-FFF2-40B4-BE49-F238E27FC236}">
                <a16:creationId xmlns:a16="http://schemas.microsoft.com/office/drawing/2014/main" id="{FA4AEDC5-CB41-2B32-AA4A-95E510BF4570}"/>
              </a:ext>
            </a:extLst>
          </p:cNvPr>
          <p:cNvSpPr>
            <a:spLocks noGrp="1"/>
          </p:cNvSpPr>
          <p:nvPr>
            <p:ph idx="1"/>
          </p:nvPr>
        </p:nvSpPr>
        <p:spPr/>
        <p:txBody>
          <a:bodyPr>
            <a:normAutofit lnSpcReduction="10000"/>
          </a:bodyPr>
          <a:lstStyle/>
          <a:p>
            <a:pPr marL="0" indent="0">
              <a:buNone/>
            </a:pPr>
            <a:r>
              <a:rPr lang="en-US" b="1" dirty="0">
                <a:latin typeface="Agency FB" panose="020B0503020202020204" pitchFamily="34" charset="0"/>
              </a:rPr>
              <a:t>Development/Execution</a:t>
            </a:r>
          </a:p>
          <a:p>
            <a:r>
              <a:rPr lang="en-US" dirty="0">
                <a:latin typeface="Avenir Next LT Pro Light" panose="020B0304020202020204" pitchFamily="34" charset="0"/>
              </a:rPr>
              <a:t>The team starts to build the product and create functional software in short cycles called Sprints.</a:t>
            </a:r>
          </a:p>
          <a:p>
            <a:r>
              <a:rPr lang="en-US" dirty="0">
                <a:latin typeface="Avenir Next LT Pro Light" panose="020B0304020202020204" pitchFamily="34" charset="0"/>
              </a:rPr>
              <a:t>Daily meetings are held to address any issues/impediments that have come up, and the team provides updates for continuous momentum.</a:t>
            </a:r>
          </a:p>
          <a:p>
            <a:pPr marL="0" indent="0">
              <a:buNone/>
            </a:pPr>
            <a:r>
              <a:rPr lang="en-US" b="1" dirty="0">
                <a:latin typeface="Agency FB" panose="020B0503020202020204" pitchFamily="34" charset="0"/>
              </a:rPr>
              <a:t>Testing</a:t>
            </a:r>
          </a:p>
          <a:p>
            <a:r>
              <a:rPr lang="en-US" dirty="0">
                <a:latin typeface="Avenir Next LT Pro Light" panose="020B0304020202020204" pitchFamily="34" charset="0"/>
              </a:rPr>
              <a:t>All testing is integrated into each Sprint cycle so the team can check for bugs and ensures that the software meets functional requirements for the goals of the project.</a:t>
            </a:r>
          </a:p>
        </p:txBody>
      </p:sp>
      <p:grpSp>
        <p:nvGrpSpPr>
          <p:cNvPr id="15" name="Group 14">
            <a:extLst>
              <a:ext uri="{FF2B5EF4-FFF2-40B4-BE49-F238E27FC236}">
                <a16:creationId xmlns:a16="http://schemas.microsoft.com/office/drawing/2014/main" id="{2A9F0E9E-6520-675C-5EBD-E61A7C30F47A}"/>
              </a:ext>
            </a:extLst>
          </p:cNvPr>
          <p:cNvGrpSpPr/>
          <p:nvPr/>
        </p:nvGrpSpPr>
        <p:grpSpPr>
          <a:xfrm>
            <a:off x="0" y="1437956"/>
            <a:ext cx="10474960" cy="92075"/>
            <a:chOff x="0" y="3509963"/>
            <a:chExt cx="10474960" cy="92075"/>
          </a:xfrm>
        </p:grpSpPr>
        <p:cxnSp>
          <p:nvCxnSpPr>
            <p:cNvPr id="16" name="Straight Connector 15">
              <a:extLst>
                <a:ext uri="{FF2B5EF4-FFF2-40B4-BE49-F238E27FC236}">
                  <a16:creationId xmlns:a16="http://schemas.microsoft.com/office/drawing/2014/main" id="{7ED1ECA0-32AC-3FA0-D7E3-867BB8B39616}"/>
                </a:ext>
              </a:extLst>
            </p:cNvPr>
            <p:cNvCxnSpPr/>
            <p:nvPr/>
          </p:nvCxnSpPr>
          <p:spPr>
            <a:xfrm>
              <a:off x="0" y="3602038"/>
              <a:ext cx="10104120" cy="0"/>
            </a:xfrm>
            <a:prstGeom prst="line">
              <a:avLst/>
            </a:prstGeom>
            <a:ln w="2540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315D0C8-9D79-285D-C52A-120C811CBF5C}"/>
                </a:ext>
              </a:extLst>
            </p:cNvPr>
            <p:cNvCxnSpPr/>
            <p:nvPr/>
          </p:nvCxnSpPr>
          <p:spPr>
            <a:xfrm>
              <a:off x="167640" y="3509963"/>
              <a:ext cx="10104120" cy="0"/>
            </a:xfrm>
            <a:prstGeom prst="line">
              <a:avLst/>
            </a:prstGeom>
            <a:ln w="254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C2310DC-4AC2-A983-2F40-C839113199B7}"/>
                </a:ext>
              </a:extLst>
            </p:cNvPr>
            <p:cNvCxnSpPr/>
            <p:nvPr/>
          </p:nvCxnSpPr>
          <p:spPr>
            <a:xfrm>
              <a:off x="370840" y="3556318"/>
              <a:ext cx="10104120" cy="0"/>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19" name="TextBox 18">
            <a:extLst>
              <a:ext uri="{FF2B5EF4-FFF2-40B4-BE49-F238E27FC236}">
                <a16:creationId xmlns:a16="http://schemas.microsoft.com/office/drawing/2014/main" id="{BA40DAD2-D3F4-9536-1FB8-34BC50CC37DA}"/>
              </a:ext>
            </a:extLst>
          </p:cNvPr>
          <p:cNvSpPr txBox="1"/>
          <p:nvPr/>
        </p:nvSpPr>
        <p:spPr>
          <a:xfrm>
            <a:off x="167640" y="6388751"/>
            <a:ext cx="609600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(Hartshorne, 2025)</a:t>
            </a:r>
          </a:p>
        </p:txBody>
      </p:sp>
      <p:sp>
        <p:nvSpPr>
          <p:cNvPr id="20" name="TextBox 19">
            <a:extLst>
              <a:ext uri="{FF2B5EF4-FFF2-40B4-BE49-F238E27FC236}">
                <a16:creationId xmlns:a16="http://schemas.microsoft.com/office/drawing/2014/main" id="{F9D06ED2-9690-9B2C-ABC3-1BE318DD79F9}"/>
              </a:ext>
            </a:extLst>
          </p:cNvPr>
          <p:cNvSpPr txBox="1"/>
          <p:nvPr/>
        </p:nvSpPr>
        <p:spPr>
          <a:xfrm>
            <a:off x="167640" y="6019419"/>
            <a:ext cx="609600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(Nguyen, 2024)</a:t>
            </a:r>
          </a:p>
        </p:txBody>
      </p:sp>
    </p:spTree>
    <p:extLst>
      <p:ext uri="{BB962C8B-B14F-4D97-AF65-F5344CB8AC3E}">
        <p14:creationId xmlns:p14="http://schemas.microsoft.com/office/powerpoint/2010/main" val="13561050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651A7505-AE87-23E9-E53F-CA7F2A5A2571}"/>
              </a:ext>
            </a:extLst>
          </p:cNvPr>
          <p:cNvGrpSpPr/>
          <p:nvPr/>
        </p:nvGrpSpPr>
        <p:grpSpPr>
          <a:xfrm rot="16200000">
            <a:off x="6568440" y="1234440"/>
            <a:ext cx="6858000" cy="4389120"/>
            <a:chOff x="0" y="2468880"/>
            <a:chExt cx="11506200" cy="4389120"/>
          </a:xfrm>
        </p:grpSpPr>
        <p:grpSp>
          <p:nvGrpSpPr>
            <p:cNvPr id="5" name="Group 4">
              <a:extLst>
                <a:ext uri="{FF2B5EF4-FFF2-40B4-BE49-F238E27FC236}">
                  <a16:creationId xmlns:a16="http://schemas.microsoft.com/office/drawing/2014/main" id="{BD0E497D-ABA5-8A7F-C241-C54FA335881D}"/>
                </a:ext>
              </a:extLst>
            </p:cNvPr>
            <p:cNvGrpSpPr/>
            <p:nvPr/>
          </p:nvGrpSpPr>
          <p:grpSpPr>
            <a:xfrm>
              <a:off x="0" y="2468880"/>
              <a:ext cx="10474960" cy="2479039"/>
              <a:chOff x="213360" y="556576"/>
              <a:chExt cx="2458720" cy="2158683"/>
            </a:xfrm>
          </p:grpSpPr>
          <p:sp>
            <p:nvSpPr>
              <p:cNvPr id="10" name="Frame 9">
                <a:extLst>
                  <a:ext uri="{FF2B5EF4-FFF2-40B4-BE49-F238E27FC236}">
                    <a16:creationId xmlns:a16="http://schemas.microsoft.com/office/drawing/2014/main" id="{E2154B80-1E73-79F8-8C65-F57C09D586A8}"/>
                  </a:ext>
                </a:extLst>
              </p:cNvPr>
              <p:cNvSpPr/>
              <p:nvPr/>
            </p:nvSpPr>
            <p:spPr>
              <a:xfrm>
                <a:off x="2286000" y="1796093"/>
                <a:ext cx="386080" cy="406399"/>
              </a:xfrm>
              <a:prstGeom prst="frame">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Frame 10">
                <a:extLst>
                  <a:ext uri="{FF2B5EF4-FFF2-40B4-BE49-F238E27FC236}">
                    <a16:creationId xmlns:a16="http://schemas.microsoft.com/office/drawing/2014/main" id="{DA56C1B4-6D80-86F5-2C1E-F4E3D39B81E9}"/>
                  </a:ext>
                </a:extLst>
              </p:cNvPr>
              <p:cNvSpPr/>
              <p:nvPr/>
            </p:nvSpPr>
            <p:spPr>
              <a:xfrm>
                <a:off x="1935480" y="2035882"/>
                <a:ext cx="518160" cy="425294"/>
              </a:xfrm>
              <a:prstGeom prst="frame">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a:extLst>
                  <a:ext uri="{FF2B5EF4-FFF2-40B4-BE49-F238E27FC236}">
                    <a16:creationId xmlns:a16="http://schemas.microsoft.com/office/drawing/2014/main" id="{05F2D551-1FBB-ABDB-F5EC-9E860514A865}"/>
                  </a:ext>
                </a:extLst>
              </p:cNvPr>
              <p:cNvSpPr/>
              <p:nvPr/>
            </p:nvSpPr>
            <p:spPr>
              <a:xfrm>
                <a:off x="213360" y="556576"/>
                <a:ext cx="1489302" cy="1645916"/>
              </a:xfrm>
              <a:prstGeom prst="fram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Frame 12">
                <a:extLst>
                  <a:ext uri="{FF2B5EF4-FFF2-40B4-BE49-F238E27FC236}">
                    <a16:creationId xmlns:a16="http://schemas.microsoft.com/office/drawing/2014/main" id="{63759FE2-8A9D-5B59-B0A2-25C813676899}"/>
                  </a:ext>
                </a:extLst>
              </p:cNvPr>
              <p:cNvSpPr/>
              <p:nvPr/>
            </p:nvSpPr>
            <p:spPr>
              <a:xfrm>
                <a:off x="889000" y="1587500"/>
                <a:ext cx="1148080" cy="1127759"/>
              </a:xfrm>
              <a:prstGeom prst="fram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a:extLst>
                  <a:ext uri="{FF2B5EF4-FFF2-40B4-BE49-F238E27FC236}">
                    <a16:creationId xmlns:a16="http://schemas.microsoft.com/office/drawing/2014/main" id="{E7096BE8-0E18-364A-B9A4-E261BDE82944}"/>
                  </a:ext>
                </a:extLst>
              </p:cNvPr>
              <p:cNvSpPr/>
              <p:nvPr/>
            </p:nvSpPr>
            <p:spPr>
              <a:xfrm>
                <a:off x="731520" y="1351280"/>
                <a:ext cx="670560" cy="1127759"/>
              </a:xfrm>
              <a:prstGeom prst="fram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6" name="Rectangle 5">
              <a:extLst>
                <a:ext uri="{FF2B5EF4-FFF2-40B4-BE49-F238E27FC236}">
                  <a16:creationId xmlns:a16="http://schemas.microsoft.com/office/drawing/2014/main" id="{8E92E438-3F07-043F-1E3B-0CAB332F4296}"/>
                </a:ext>
              </a:extLst>
            </p:cNvPr>
            <p:cNvSpPr/>
            <p:nvPr/>
          </p:nvSpPr>
          <p:spPr>
            <a:xfrm>
              <a:off x="0" y="3606802"/>
              <a:ext cx="11506200" cy="3251198"/>
            </a:xfrm>
            <a:prstGeom prst="rect">
              <a:avLst/>
            </a:prstGeom>
            <a:solidFill>
              <a:schemeClr val="accent2">
                <a:lumMod val="20000"/>
                <a:lumOff val="80000"/>
                <a:alpha val="45000"/>
              </a:schemeClr>
            </a:solidFill>
            <a:ln>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29D8DC9-EE55-82A4-03AA-7E1AD1B4ED34}"/>
                </a:ext>
              </a:extLst>
            </p:cNvPr>
            <p:cNvCxnSpPr/>
            <p:nvPr/>
          </p:nvCxnSpPr>
          <p:spPr>
            <a:xfrm>
              <a:off x="0" y="3602038"/>
              <a:ext cx="10104120" cy="0"/>
            </a:xfrm>
            <a:prstGeom prst="line">
              <a:avLst/>
            </a:prstGeom>
            <a:ln w="2540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0478CA3-DEB0-6F47-BC79-2A80889D1C6C}"/>
                </a:ext>
              </a:extLst>
            </p:cNvPr>
            <p:cNvCxnSpPr/>
            <p:nvPr/>
          </p:nvCxnSpPr>
          <p:spPr>
            <a:xfrm>
              <a:off x="167640" y="3509963"/>
              <a:ext cx="10104120" cy="0"/>
            </a:xfrm>
            <a:prstGeom prst="line">
              <a:avLst/>
            </a:prstGeom>
            <a:ln w="254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A65B3C0-4B43-3EA8-EB44-275CE1B248CD}"/>
                </a:ext>
              </a:extLst>
            </p:cNvPr>
            <p:cNvCxnSpPr/>
            <p:nvPr/>
          </p:nvCxnSpPr>
          <p:spPr>
            <a:xfrm>
              <a:off x="370840" y="3556318"/>
              <a:ext cx="10104120" cy="0"/>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4BB9BC84-0A95-ED68-6232-A3E9E3EC3EC3}"/>
              </a:ext>
            </a:extLst>
          </p:cNvPr>
          <p:cNvSpPr>
            <a:spLocks noGrp="1"/>
          </p:cNvSpPr>
          <p:nvPr>
            <p:ph type="title"/>
          </p:nvPr>
        </p:nvSpPr>
        <p:spPr/>
        <p:txBody>
          <a:bodyPr/>
          <a:lstStyle/>
          <a:p>
            <a:r>
              <a:rPr lang="en-US" dirty="0">
                <a:effectLst>
                  <a:reflection blurRad="12700" stA="20000" endPos="30000" dist="12700" dir="5400000" sy="-100000" algn="bl" rotWithShape="0"/>
                </a:effectLst>
                <a:latin typeface="Avenir Next LT Pro Light" panose="020B0304020202020204" pitchFamily="34" charset="0"/>
              </a:rPr>
              <a:t>Agile Phases</a:t>
            </a:r>
          </a:p>
        </p:txBody>
      </p:sp>
      <p:sp>
        <p:nvSpPr>
          <p:cNvPr id="3" name="Content Placeholder 2">
            <a:extLst>
              <a:ext uri="{FF2B5EF4-FFF2-40B4-BE49-F238E27FC236}">
                <a16:creationId xmlns:a16="http://schemas.microsoft.com/office/drawing/2014/main" id="{75A1E029-A25C-EA63-2FEA-476FBA193AFC}"/>
              </a:ext>
            </a:extLst>
          </p:cNvPr>
          <p:cNvSpPr>
            <a:spLocks noGrp="1"/>
          </p:cNvSpPr>
          <p:nvPr>
            <p:ph idx="1"/>
          </p:nvPr>
        </p:nvSpPr>
        <p:spPr/>
        <p:txBody>
          <a:bodyPr>
            <a:normAutofit fontScale="92500"/>
          </a:bodyPr>
          <a:lstStyle/>
          <a:p>
            <a:pPr marL="0" indent="0">
              <a:buNone/>
            </a:pPr>
            <a:r>
              <a:rPr lang="en-US" b="1" dirty="0">
                <a:latin typeface="Agency FB" panose="020B0503020202020204" pitchFamily="34" charset="0"/>
              </a:rPr>
              <a:t>Review</a:t>
            </a:r>
          </a:p>
          <a:p>
            <a:r>
              <a:rPr lang="en-US" dirty="0">
                <a:latin typeface="Avenir Next LT Pro Light" panose="020B0304020202020204" pitchFamily="34" charset="0"/>
              </a:rPr>
              <a:t>At the end of each Sprint cycle, the team will show the working software to stakeholders who will then provide helpful feedback.</a:t>
            </a:r>
          </a:p>
          <a:p>
            <a:r>
              <a:rPr lang="en-US" dirty="0">
                <a:latin typeface="Avenir Next LT Pro Light" panose="020B0304020202020204" pitchFamily="34" charset="0"/>
              </a:rPr>
              <a:t>This step helps to ensure that the software meets with requirements and is now ready to move onto more development.</a:t>
            </a:r>
          </a:p>
          <a:p>
            <a:pPr marL="0" indent="0">
              <a:buNone/>
            </a:pPr>
            <a:r>
              <a:rPr lang="en-US" b="1" dirty="0">
                <a:latin typeface="Agency FB" panose="020B0503020202020204" pitchFamily="34" charset="0"/>
              </a:rPr>
              <a:t>Release</a:t>
            </a:r>
          </a:p>
          <a:p>
            <a:r>
              <a:rPr lang="en-US" dirty="0">
                <a:latin typeface="Avenir Next LT Pro Light" panose="020B0304020202020204" pitchFamily="34" charset="0"/>
              </a:rPr>
              <a:t>In this stage, the product is deployed to the customers, and may also include beta testing as well.</a:t>
            </a:r>
          </a:p>
          <a:p>
            <a:r>
              <a:rPr lang="en-US" dirty="0">
                <a:latin typeface="Avenir Next LT Pro Light" panose="020B0304020202020204" pitchFamily="34" charset="0"/>
              </a:rPr>
              <a:t>The team will examine the software to verify the code is clean and promptly addresses any bugs.</a:t>
            </a:r>
          </a:p>
        </p:txBody>
      </p:sp>
      <p:grpSp>
        <p:nvGrpSpPr>
          <p:cNvPr id="15" name="Group 14">
            <a:extLst>
              <a:ext uri="{FF2B5EF4-FFF2-40B4-BE49-F238E27FC236}">
                <a16:creationId xmlns:a16="http://schemas.microsoft.com/office/drawing/2014/main" id="{FAD883A7-B1AC-293D-A7F7-E4E28A012A3B}"/>
              </a:ext>
            </a:extLst>
          </p:cNvPr>
          <p:cNvGrpSpPr/>
          <p:nvPr/>
        </p:nvGrpSpPr>
        <p:grpSpPr>
          <a:xfrm>
            <a:off x="0" y="1437956"/>
            <a:ext cx="10474960" cy="92075"/>
            <a:chOff x="0" y="3509963"/>
            <a:chExt cx="10474960" cy="92075"/>
          </a:xfrm>
        </p:grpSpPr>
        <p:cxnSp>
          <p:nvCxnSpPr>
            <p:cNvPr id="16" name="Straight Connector 15">
              <a:extLst>
                <a:ext uri="{FF2B5EF4-FFF2-40B4-BE49-F238E27FC236}">
                  <a16:creationId xmlns:a16="http://schemas.microsoft.com/office/drawing/2014/main" id="{65F57637-2BDF-8918-DDC3-A9955592BAC8}"/>
                </a:ext>
              </a:extLst>
            </p:cNvPr>
            <p:cNvCxnSpPr/>
            <p:nvPr/>
          </p:nvCxnSpPr>
          <p:spPr>
            <a:xfrm>
              <a:off x="0" y="3602038"/>
              <a:ext cx="10104120" cy="0"/>
            </a:xfrm>
            <a:prstGeom prst="line">
              <a:avLst/>
            </a:prstGeom>
            <a:ln w="2540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80FA417-B6B8-946C-93FD-80383DF124EA}"/>
                </a:ext>
              </a:extLst>
            </p:cNvPr>
            <p:cNvCxnSpPr/>
            <p:nvPr/>
          </p:nvCxnSpPr>
          <p:spPr>
            <a:xfrm>
              <a:off x="167640" y="3509963"/>
              <a:ext cx="10104120" cy="0"/>
            </a:xfrm>
            <a:prstGeom prst="line">
              <a:avLst/>
            </a:prstGeom>
            <a:ln w="254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9E99B4E-7F0A-3D17-F00F-9DDB77135B78}"/>
                </a:ext>
              </a:extLst>
            </p:cNvPr>
            <p:cNvCxnSpPr/>
            <p:nvPr/>
          </p:nvCxnSpPr>
          <p:spPr>
            <a:xfrm>
              <a:off x="370840" y="3556318"/>
              <a:ext cx="10104120" cy="0"/>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19" name="TextBox 18">
            <a:extLst>
              <a:ext uri="{FF2B5EF4-FFF2-40B4-BE49-F238E27FC236}">
                <a16:creationId xmlns:a16="http://schemas.microsoft.com/office/drawing/2014/main" id="{C25D04D6-C398-9A70-167A-0BF4AAC5BFFA}"/>
              </a:ext>
            </a:extLst>
          </p:cNvPr>
          <p:cNvSpPr txBox="1"/>
          <p:nvPr/>
        </p:nvSpPr>
        <p:spPr>
          <a:xfrm>
            <a:off x="167640" y="6388751"/>
            <a:ext cx="609600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(Hartshorne, 2025)</a:t>
            </a:r>
          </a:p>
        </p:txBody>
      </p:sp>
      <p:sp>
        <p:nvSpPr>
          <p:cNvPr id="20" name="TextBox 19">
            <a:extLst>
              <a:ext uri="{FF2B5EF4-FFF2-40B4-BE49-F238E27FC236}">
                <a16:creationId xmlns:a16="http://schemas.microsoft.com/office/drawing/2014/main" id="{AD226A06-29B1-B8BA-8E71-092D3B5FE7C0}"/>
              </a:ext>
            </a:extLst>
          </p:cNvPr>
          <p:cNvSpPr txBox="1"/>
          <p:nvPr/>
        </p:nvSpPr>
        <p:spPr>
          <a:xfrm>
            <a:off x="167640" y="6019419"/>
            <a:ext cx="609600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(Nguyen, 2024)</a:t>
            </a:r>
          </a:p>
        </p:txBody>
      </p:sp>
    </p:spTree>
    <p:extLst>
      <p:ext uri="{BB962C8B-B14F-4D97-AF65-F5344CB8AC3E}">
        <p14:creationId xmlns:p14="http://schemas.microsoft.com/office/powerpoint/2010/main" val="11705791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860DD3C-02F7-E447-2DE9-F7AD28AEB2B2}"/>
              </a:ext>
            </a:extLst>
          </p:cNvPr>
          <p:cNvGrpSpPr/>
          <p:nvPr/>
        </p:nvGrpSpPr>
        <p:grpSpPr>
          <a:xfrm rot="16200000">
            <a:off x="6568440" y="1234440"/>
            <a:ext cx="6858000" cy="4389120"/>
            <a:chOff x="0" y="2468880"/>
            <a:chExt cx="11506200" cy="4389120"/>
          </a:xfrm>
        </p:grpSpPr>
        <p:grpSp>
          <p:nvGrpSpPr>
            <p:cNvPr id="5" name="Group 4">
              <a:extLst>
                <a:ext uri="{FF2B5EF4-FFF2-40B4-BE49-F238E27FC236}">
                  <a16:creationId xmlns:a16="http://schemas.microsoft.com/office/drawing/2014/main" id="{262B0824-FEB6-0170-5201-47BA99987345}"/>
                </a:ext>
              </a:extLst>
            </p:cNvPr>
            <p:cNvGrpSpPr/>
            <p:nvPr/>
          </p:nvGrpSpPr>
          <p:grpSpPr>
            <a:xfrm>
              <a:off x="0" y="2468880"/>
              <a:ext cx="10474960" cy="2479039"/>
              <a:chOff x="213360" y="556576"/>
              <a:chExt cx="2458720" cy="2158683"/>
            </a:xfrm>
          </p:grpSpPr>
          <p:sp>
            <p:nvSpPr>
              <p:cNvPr id="10" name="Frame 9">
                <a:extLst>
                  <a:ext uri="{FF2B5EF4-FFF2-40B4-BE49-F238E27FC236}">
                    <a16:creationId xmlns:a16="http://schemas.microsoft.com/office/drawing/2014/main" id="{18FA3B54-F7D2-BC57-7B0D-2D3474E1AF79}"/>
                  </a:ext>
                </a:extLst>
              </p:cNvPr>
              <p:cNvSpPr/>
              <p:nvPr/>
            </p:nvSpPr>
            <p:spPr>
              <a:xfrm>
                <a:off x="2286000" y="1796093"/>
                <a:ext cx="386080" cy="406399"/>
              </a:xfrm>
              <a:prstGeom prst="frame">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Frame 10">
                <a:extLst>
                  <a:ext uri="{FF2B5EF4-FFF2-40B4-BE49-F238E27FC236}">
                    <a16:creationId xmlns:a16="http://schemas.microsoft.com/office/drawing/2014/main" id="{905F4CEB-F7EB-3E40-5BFF-CE3481F5FE68}"/>
                  </a:ext>
                </a:extLst>
              </p:cNvPr>
              <p:cNvSpPr/>
              <p:nvPr/>
            </p:nvSpPr>
            <p:spPr>
              <a:xfrm>
                <a:off x="1935480" y="2035882"/>
                <a:ext cx="518160" cy="425294"/>
              </a:xfrm>
              <a:prstGeom prst="frame">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a:extLst>
                  <a:ext uri="{FF2B5EF4-FFF2-40B4-BE49-F238E27FC236}">
                    <a16:creationId xmlns:a16="http://schemas.microsoft.com/office/drawing/2014/main" id="{356175B5-488D-476B-D4BB-327B7788563C}"/>
                  </a:ext>
                </a:extLst>
              </p:cNvPr>
              <p:cNvSpPr/>
              <p:nvPr/>
            </p:nvSpPr>
            <p:spPr>
              <a:xfrm>
                <a:off x="213360" y="556576"/>
                <a:ext cx="1489302" cy="1645916"/>
              </a:xfrm>
              <a:prstGeom prst="fram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Frame 12">
                <a:extLst>
                  <a:ext uri="{FF2B5EF4-FFF2-40B4-BE49-F238E27FC236}">
                    <a16:creationId xmlns:a16="http://schemas.microsoft.com/office/drawing/2014/main" id="{B57F6060-366C-A8E2-69B9-87B29E07AE0B}"/>
                  </a:ext>
                </a:extLst>
              </p:cNvPr>
              <p:cNvSpPr/>
              <p:nvPr/>
            </p:nvSpPr>
            <p:spPr>
              <a:xfrm>
                <a:off x="889000" y="1587500"/>
                <a:ext cx="1148080" cy="1127759"/>
              </a:xfrm>
              <a:prstGeom prst="fram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a:extLst>
                  <a:ext uri="{FF2B5EF4-FFF2-40B4-BE49-F238E27FC236}">
                    <a16:creationId xmlns:a16="http://schemas.microsoft.com/office/drawing/2014/main" id="{FB28276A-F490-F6BC-2915-200989BF3839}"/>
                  </a:ext>
                </a:extLst>
              </p:cNvPr>
              <p:cNvSpPr/>
              <p:nvPr/>
            </p:nvSpPr>
            <p:spPr>
              <a:xfrm>
                <a:off x="731520" y="1351280"/>
                <a:ext cx="670560" cy="1127759"/>
              </a:xfrm>
              <a:prstGeom prst="fram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6" name="Rectangle 5">
              <a:extLst>
                <a:ext uri="{FF2B5EF4-FFF2-40B4-BE49-F238E27FC236}">
                  <a16:creationId xmlns:a16="http://schemas.microsoft.com/office/drawing/2014/main" id="{6830CE7F-80D3-DCF8-C7C9-2C863AFF914D}"/>
                </a:ext>
              </a:extLst>
            </p:cNvPr>
            <p:cNvSpPr/>
            <p:nvPr/>
          </p:nvSpPr>
          <p:spPr>
            <a:xfrm>
              <a:off x="0" y="3606802"/>
              <a:ext cx="11506200" cy="3251198"/>
            </a:xfrm>
            <a:prstGeom prst="rect">
              <a:avLst/>
            </a:prstGeom>
            <a:solidFill>
              <a:schemeClr val="accent2">
                <a:lumMod val="20000"/>
                <a:lumOff val="80000"/>
                <a:alpha val="45000"/>
              </a:schemeClr>
            </a:solidFill>
            <a:ln>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B7860308-10E5-0CAA-237D-368725F92D63}"/>
                </a:ext>
              </a:extLst>
            </p:cNvPr>
            <p:cNvCxnSpPr/>
            <p:nvPr/>
          </p:nvCxnSpPr>
          <p:spPr>
            <a:xfrm>
              <a:off x="0" y="3602038"/>
              <a:ext cx="10104120" cy="0"/>
            </a:xfrm>
            <a:prstGeom prst="line">
              <a:avLst/>
            </a:prstGeom>
            <a:ln w="2540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B1321AD-46FD-49A0-E15B-43EA64ADB514}"/>
                </a:ext>
              </a:extLst>
            </p:cNvPr>
            <p:cNvCxnSpPr/>
            <p:nvPr/>
          </p:nvCxnSpPr>
          <p:spPr>
            <a:xfrm>
              <a:off x="167640" y="3509963"/>
              <a:ext cx="10104120" cy="0"/>
            </a:xfrm>
            <a:prstGeom prst="line">
              <a:avLst/>
            </a:prstGeom>
            <a:ln w="254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22D8284-82F4-DFFF-C2CB-04D807F0266F}"/>
                </a:ext>
              </a:extLst>
            </p:cNvPr>
            <p:cNvCxnSpPr/>
            <p:nvPr/>
          </p:nvCxnSpPr>
          <p:spPr>
            <a:xfrm>
              <a:off x="370840" y="3556318"/>
              <a:ext cx="10104120" cy="0"/>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09D54AB-A99A-2D8F-E029-74B12546AB34}"/>
              </a:ext>
            </a:extLst>
          </p:cNvPr>
          <p:cNvSpPr>
            <a:spLocks noGrp="1"/>
          </p:cNvSpPr>
          <p:nvPr>
            <p:ph type="title"/>
          </p:nvPr>
        </p:nvSpPr>
        <p:spPr/>
        <p:txBody>
          <a:bodyPr/>
          <a:lstStyle/>
          <a:p>
            <a:r>
              <a:rPr lang="en-US" dirty="0">
                <a:effectLst>
                  <a:reflection blurRad="12700" stA="20000" endPos="30000" dist="12700" dir="5400000" sy="-100000" algn="bl" rotWithShape="0"/>
                </a:effectLst>
                <a:latin typeface="Avenir Next LT Pro Light" panose="020B0304020202020204" pitchFamily="34" charset="0"/>
              </a:rPr>
              <a:t>Agile Phases</a:t>
            </a:r>
          </a:p>
        </p:txBody>
      </p:sp>
      <p:sp>
        <p:nvSpPr>
          <p:cNvPr id="3" name="Content Placeholder 2">
            <a:extLst>
              <a:ext uri="{FF2B5EF4-FFF2-40B4-BE49-F238E27FC236}">
                <a16:creationId xmlns:a16="http://schemas.microsoft.com/office/drawing/2014/main" id="{97024081-D50F-8D6B-B1AB-76FEA1F66EDE}"/>
              </a:ext>
            </a:extLst>
          </p:cNvPr>
          <p:cNvSpPr>
            <a:spLocks noGrp="1"/>
          </p:cNvSpPr>
          <p:nvPr>
            <p:ph idx="1"/>
          </p:nvPr>
        </p:nvSpPr>
        <p:spPr/>
        <p:txBody>
          <a:bodyPr/>
          <a:lstStyle/>
          <a:p>
            <a:pPr marL="0" indent="0">
              <a:buNone/>
            </a:pPr>
            <a:r>
              <a:rPr lang="en-US" b="1" dirty="0">
                <a:latin typeface="Agency FB" panose="020B0503020202020204" pitchFamily="34" charset="0"/>
              </a:rPr>
              <a:t>Maintenance</a:t>
            </a:r>
          </a:p>
          <a:p>
            <a:r>
              <a:rPr lang="en-US" dirty="0">
                <a:latin typeface="Avenir Next LT Pro Light" panose="020B0304020202020204" pitchFamily="34" charset="0"/>
              </a:rPr>
              <a:t>After the release of the product, the development team will continue to maintain the software ensuring smooth operation.</a:t>
            </a:r>
          </a:p>
          <a:p>
            <a:r>
              <a:rPr lang="en-US" dirty="0">
                <a:latin typeface="Avenir Next LT Pro Light" panose="020B0304020202020204" pitchFamily="34" charset="0"/>
              </a:rPr>
              <a:t>The team will also continue to address any bugs that must be taken care of, as well as providing any help to the customers to help with their proficiency with the product.</a:t>
            </a:r>
          </a:p>
        </p:txBody>
      </p:sp>
      <p:grpSp>
        <p:nvGrpSpPr>
          <p:cNvPr id="15" name="Group 14">
            <a:extLst>
              <a:ext uri="{FF2B5EF4-FFF2-40B4-BE49-F238E27FC236}">
                <a16:creationId xmlns:a16="http://schemas.microsoft.com/office/drawing/2014/main" id="{F003645C-A3C5-22DC-9FF0-2EDF91B524D9}"/>
              </a:ext>
            </a:extLst>
          </p:cNvPr>
          <p:cNvGrpSpPr/>
          <p:nvPr/>
        </p:nvGrpSpPr>
        <p:grpSpPr>
          <a:xfrm>
            <a:off x="0" y="1437956"/>
            <a:ext cx="10474960" cy="92075"/>
            <a:chOff x="0" y="3509963"/>
            <a:chExt cx="10474960" cy="92075"/>
          </a:xfrm>
        </p:grpSpPr>
        <p:cxnSp>
          <p:nvCxnSpPr>
            <p:cNvPr id="16" name="Straight Connector 15">
              <a:extLst>
                <a:ext uri="{FF2B5EF4-FFF2-40B4-BE49-F238E27FC236}">
                  <a16:creationId xmlns:a16="http://schemas.microsoft.com/office/drawing/2014/main" id="{8A01C6B5-3258-3B42-96E7-92D56A0FDC73}"/>
                </a:ext>
              </a:extLst>
            </p:cNvPr>
            <p:cNvCxnSpPr/>
            <p:nvPr/>
          </p:nvCxnSpPr>
          <p:spPr>
            <a:xfrm>
              <a:off x="0" y="3602038"/>
              <a:ext cx="10104120" cy="0"/>
            </a:xfrm>
            <a:prstGeom prst="line">
              <a:avLst/>
            </a:prstGeom>
            <a:ln w="2540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49EA503-96B0-E500-61A2-121DA461F300}"/>
                </a:ext>
              </a:extLst>
            </p:cNvPr>
            <p:cNvCxnSpPr/>
            <p:nvPr/>
          </p:nvCxnSpPr>
          <p:spPr>
            <a:xfrm>
              <a:off x="167640" y="3509963"/>
              <a:ext cx="10104120" cy="0"/>
            </a:xfrm>
            <a:prstGeom prst="line">
              <a:avLst/>
            </a:prstGeom>
            <a:ln w="254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BFF719E-17DE-A965-01BD-C59516B154A0}"/>
                </a:ext>
              </a:extLst>
            </p:cNvPr>
            <p:cNvCxnSpPr/>
            <p:nvPr/>
          </p:nvCxnSpPr>
          <p:spPr>
            <a:xfrm>
              <a:off x="370840" y="3556318"/>
              <a:ext cx="10104120" cy="0"/>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19" name="TextBox 18">
            <a:extLst>
              <a:ext uri="{FF2B5EF4-FFF2-40B4-BE49-F238E27FC236}">
                <a16:creationId xmlns:a16="http://schemas.microsoft.com/office/drawing/2014/main" id="{02C94FBD-CF86-E2ED-8C2C-A55E8E785BC0}"/>
              </a:ext>
            </a:extLst>
          </p:cNvPr>
          <p:cNvSpPr txBox="1"/>
          <p:nvPr/>
        </p:nvSpPr>
        <p:spPr>
          <a:xfrm>
            <a:off x="167640" y="6388751"/>
            <a:ext cx="609600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(Hartshorne, 2025)</a:t>
            </a:r>
          </a:p>
        </p:txBody>
      </p:sp>
      <p:sp>
        <p:nvSpPr>
          <p:cNvPr id="20" name="TextBox 19">
            <a:extLst>
              <a:ext uri="{FF2B5EF4-FFF2-40B4-BE49-F238E27FC236}">
                <a16:creationId xmlns:a16="http://schemas.microsoft.com/office/drawing/2014/main" id="{64AD2DE6-C3F3-A47A-D484-2A964FCB2E10}"/>
              </a:ext>
            </a:extLst>
          </p:cNvPr>
          <p:cNvSpPr txBox="1"/>
          <p:nvPr/>
        </p:nvSpPr>
        <p:spPr>
          <a:xfrm>
            <a:off x="167640" y="6019419"/>
            <a:ext cx="609600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(Nguyen, 2024)</a:t>
            </a:r>
          </a:p>
        </p:txBody>
      </p:sp>
    </p:spTree>
    <p:extLst>
      <p:ext uri="{BB962C8B-B14F-4D97-AF65-F5344CB8AC3E}">
        <p14:creationId xmlns:p14="http://schemas.microsoft.com/office/powerpoint/2010/main" val="4214915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60E368E5-3CB7-BA2F-AE15-DAD4C777A39F}"/>
              </a:ext>
            </a:extLst>
          </p:cNvPr>
          <p:cNvGrpSpPr/>
          <p:nvPr/>
        </p:nvGrpSpPr>
        <p:grpSpPr>
          <a:xfrm rot="16200000">
            <a:off x="6568440" y="1234440"/>
            <a:ext cx="6858000" cy="4389120"/>
            <a:chOff x="0" y="2468880"/>
            <a:chExt cx="11506200" cy="4389120"/>
          </a:xfrm>
        </p:grpSpPr>
        <p:grpSp>
          <p:nvGrpSpPr>
            <p:cNvPr id="5" name="Group 4">
              <a:extLst>
                <a:ext uri="{FF2B5EF4-FFF2-40B4-BE49-F238E27FC236}">
                  <a16:creationId xmlns:a16="http://schemas.microsoft.com/office/drawing/2014/main" id="{A3D220D6-D554-FE0A-148E-7D03228646AF}"/>
                </a:ext>
              </a:extLst>
            </p:cNvPr>
            <p:cNvGrpSpPr/>
            <p:nvPr/>
          </p:nvGrpSpPr>
          <p:grpSpPr>
            <a:xfrm>
              <a:off x="0" y="2468880"/>
              <a:ext cx="10474960" cy="2479039"/>
              <a:chOff x="213360" y="556576"/>
              <a:chExt cx="2458720" cy="2158683"/>
            </a:xfrm>
          </p:grpSpPr>
          <p:sp>
            <p:nvSpPr>
              <p:cNvPr id="10" name="Frame 9">
                <a:extLst>
                  <a:ext uri="{FF2B5EF4-FFF2-40B4-BE49-F238E27FC236}">
                    <a16:creationId xmlns:a16="http://schemas.microsoft.com/office/drawing/2014/main" id="{39F7478B-BBE1-7A48-689F-A035191B64E2}"/>
                  </a:ext>
                </a:extLst>
              </p:cNvPr>
              <p:cNvSpPr/>
              <p:nvPr/>
            </p:nvSpPr>
            <p:spPr>
              <a:xfrm>
                <a:off x="2286000" y="1796093"/>
                <a:ext cx="386080" cy="406399"/>
              </a:xfrm>
              <a:prstGeom prst="frame">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Frame 10">
                <a:extLst>
                  <a:ext uri="{FF2B5EF4-FFF2-40B4-BE49-F238E27FC236}">
                    <a16:creationId xmlns:a16="http://schemas.microsoft.com/office/drawing/2014/main" id="{4EF26BC8-7C7C-B23F-2D87-87B889CDD3F2}"/>
                  </a:ext>
                </a:extLst>
              </p:cNvPr>
              <p:cNvSpPr/>
              <p:nvPr/>
            </p:nvSpPr>
            <p:spPr>
              <a:xfrm>
                <a:off x="1935480" y="2035882"/>
                <a:ext cx="518160" cy="425294"/>
              </a:xfrm>
              <a:prstGeom prst="frame">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a:extLst>
                  <a:ext uri="{FF2B5EF4-FFF2-40B4-BE49-F238E27FC236}">
                    <a16:creationId xmlns:a16="http://schemas.microsoft.com/office/drawing/2014/main" id="{4EE71E41-561F-8CDB-E5DF-848D5E7EB7CF}"/>
                  </a:ext>
                </a:extLst>
              </p:cNvPr>
              <p:cNvSpPr/>
              <p:nvPr/>
            </p:nvSpPr>
            <p:spPr>
              <a:xfrm>
                <a:off x="213360" y="556576"/>
                <a:ext cx="1489302" cy="1645916"/>
              </a:xfrm>
              <a:prstGeom prst="fram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Frame 12">
                <a:extLst>
                  <a:ext uri="{FF2B5EF4-FFF2-40B4-BE49-F238E27FC236}">
                    <a16:creationId xmlns:a16="http://schemas.microsoft.com/office/drawing/2014/main" id="{0021CE08-777A-A34C-816D-043B624775B9}"/>
                  </a:ext>
                </a:extLst>
              </p:cNvPr>
              <p:cNvSpPr/>
              <p:nvPr/>
            </p:nvSpPr>
            <p:spPr>
              <a:xfrm>
                <a:off x="889000" y="1587500"/>
                <a:ext cx="1148080" cy="1127759"/>
              </a:xfrm>
              <a:prstGeom prst="fram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a:extLst>
                  <a:ext uri="{FF2B5EF4-FFF2-40B4-BE49-F238E27FC236}">
                    <a16:creationId xmlns:a16="http://schemas.microsoft.com/office/drawing/2014/main" id="{A5543DC2-E814-0CA1-840D-95B4811DE738}"/>
                  </a:ext>
                </a:extLst>
              </p:cNvPr>
              <p:cNvSpPr/>
              <p:nvPr/>
            </p:nvSpPr>
            <p:spPr>
              <a:xfrm>
                <a:off x="731520" y="1351280"/>
                <a:ext cx="670560" cy="1127759"/>
              </a:xfrm>
              <a:prstGeom prst="fram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6" name="Rectangle 5">
              <a:extLst>
                <a:ext uri="{FF2B5EF4-FFF2-40B4-BE49-F238E27FC236}">
                  <a16:creationId xmlns:a16="http://schemas.microsoft.com/office/drawing/2014/main" id="{15480A70-6F72-A6E0-D4F9-2FA15F8FF094}"/>
                </a:ext>
              </a:extLst>
            </p:cNvPr>
            <p:cNvSpPr/>
            <p:nvPr/>
          </p:nvSpPr>
          <p:spPr>
            <a:xfrm>
              <a:off x="0" y="3606802"/>
              <a:ext cx="11506200" cy="3251198"/>
            </a:xfrm>
            <a:prstGeom prst="rect">
              <a:avLst/>
            </a:prstGeom>
            <a:solidFill>
              <a:schemeClr val="accent2">
                <a:lumMod val="20000"/>
                <a:lumOff val="80000"/>
                <a:alpha val="45000"/>
              </a:schemeClr>
            </a:solidFill>
            <a:ln>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383D796F-DF41-C67C-2C15-A0202170F6E9}"/>
                </a:ext>
              </a:extLst>
            </p:cNvPr>
            <p:cNvCxnSpPr/>
            <p:nvPr/>
          </p:nvCxnSpPr>
          <p:spPr>
            <a:xfrm>
              <a:off x="0" y="3602038"/>
              <a:ext cx="10104120" cy="0"/>
            </a:xfrm>
            <a:prstGeom prst="line">
              <a:avLst/>
            </a:prstGeom>
            <a:ln w="2540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253B0A8-E4F7-7D3D-56FA-318B74722391}"/>
                </a:ext>
              </a:extLst>
            </p:cNvPr>
            <p:cNvCxnSpPr/>
            <p:nvPr/>
          </p:nvCxnSpPr>
          <p:spPr>
            <a:xfrm>
              <a:off x="167640" y="3509963"/>
              <a:ext cx="10104120" cy="0"/>
            </a:xfrm>
            <a:prstGeom prst="line">
              <a:avLst/>
            </a:prstGeom>
            <a:ln w="254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2A0FC4D-9CDD-4B25-C1A6-52184C4C8E19}"/>
                </a:ext>
              </a:extLst>
            </p:cNvPr>
            <p:cNvCxnSpPr/>
            <p:nvPr/>
          </p:nvCxnSpPr>
          <p:spPr>
            <a:xfrm>
              <a:off x="370840" y="3556318"/>
              <a:ext cx="10104120" cy="0"/>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E1622F7-9384-93BF-A26B-1FF52ACBB398}"/>
              </a:ext>
            </a:extLst>
          </p:cNvPr>
          <p:cNvSpPr>
            <a:spLocks noGrp="1"/>
          </p:cNvSpPr>
          <p:nvPr>
            <p:ph type="title"/>
          </p:nvPr>
        </p:nvSpPr>
        <p:spPr/>
        <p:txBody>
          <a:bodyPr/>
          <a:lstStyle/>
          <a:p>
            <a:r>
              <a:rPr lang="en-US" dirty="0">
                <a:effectLst>
                  <a:reflection blurRad="12700" stA="20000" endPos="30000" dist="12700" dir="5400000" sy="-100000" algn="bl" rotWithShape="0"/>
                </a:effectLst>
                <a:latin typeface="Avenir Next LT Pro Light" panose="020B0304020202020204" pitchFamily="34" charset="0"/>
              </a:rPr>
              <a:t>Using Waterfall Model VS. Agile</a:t>
            </a:r>
          </a:p>
        </p:txBody>
      </p:sp>
      <p:sp>
        <p:nvSpPr>
          <p:cNvPr id="3" name="Content Placeholder 2">
            <a:extLst>
              <a:ext uri="{FF2B5EF4-FFF2-40B4-BE49-F238E27FC236}">
                <a16:creationId xmlns:a16="http://schemas.microsoft.com/office/drawing/2014/main" id="{4F1CDFE1-AC73-2C69-56B5-DCDC5C61FDBD}"/>
              </a:ext>
            </a:extLst>
          </p:cNvPr>
          <p:cNvSpPr>
            <a:spLocks noGrp="1"/>
          </p:cNvSpPr>
          <p:nvPr>
            <p:ph idx="1"/>
          </p:nvPr>
        </p:nvSpPr>
        <p:spPr/>
        <p:txBody>
          <a:bodyPr>
            <a:normAutofit lnSpcReduction="10000"/>
          </a:bodyPr>
          <a:lstStyle/>
          <a:p>
            <a:pPr marL="0" indent="0">
              <a:buNone/>
            </a:pPr>
            <a:r>
              <a:rPr lang="en-US" dirty="0">
                <a:latin typeface="Agency FB" panose="020B0503020202020204" pitchFamily="34" charset="0"/>
              </a:rPr>
              <a:t>Agile is best suited for projects that are constantly changing.</a:t>
            </a:r>
          </a:p>
          <a:p>
            <a:pPr marL="0" indent="0">
              <a:buNone/>
            </a:pPr>
            <a:r>
              <a:rPr lang="en-US" b="1" dirty="0">
                <a:latin typeface="Agency FB" panose="020B0503020202020204" pitchFamily="34" charset="0"/>
              </a:rPr>
              <a:t>The SNHU Travel project used an Agile approach which let the team:</a:t>
            </a:r>
          </a:p>
          <a:p>
            <a:r>
              <a:rPr lang="en-US" dirty="0">
                <a:latin typeface="Avenir Next LT Pro Light" panose="020B0304020202020204" pitchFamily="34" charset="0"/>
              </a:rPr>
              <a:t>Receive stakeholder/customer feedback throughout development to stay within the trends of travel destinations.</a:t>
            </a:r>
          </a:p>
          <a:p>
            <a:r>
              <a:rPr lang="en-US" dirty="0">
                <a:latin typeface="Avenir Next LT Pro Light" panose="020B0304020202020204" pitchFamily="34" charset="0"/>
              </a:rPr>
              <a:t>Allowed the team to make changes to the application in the middle of the project without disrupting the flow of the project. For instance, changing destinations from overall travel to destinations that are detox and wellness themed.</a:t>
            </a:r>
          </a:p>
          <a:p>
            <a:r>
              <a:rPr lang="en-US" dirty="0">
                <a:latin typeface="Avenir Next LT Pro Light" panose="020B0304020202020204" pitchFamily="34" charset="0"/>
              </a:rPr>
              <a:t>Code was tested regularly to ensure features work before moving onto another task.</a:t>
            </a:r>
          </a:p>
        </p:txBody>
      </p:sp>
      <p:grpSp>
        <p:nvGrpSpPr>
          <p:cNvPr id="15" name="Group 14">
            <a:extLst>
              <a:ext uri="{FF2B5EF4-FFF2-40B4-BE49-F238E27FC236}">
                <a16:creationId xmlns:a16="http://schemas.microsoft.com/office/drawing/2014/main" id="{D549B4F2-B85D-A282-D4B4-54E22C670C4B}"/>
              </a:ext>
            </a:extLst>
          </p:cNvPr>
          <p:cNvGrpSpPr/>
          <p:nvPr/>
        </p:nvGrpSpPr>
        <p:grpSpPr>
          <a:xfrm>
            <a:off x="0" y="1437956"/>
            <a:ext cx="10474960" cy="92075"/>
            <a:chOff x="0" y="3509963"/>
            <a:chExt cx="10474960" cy="92075"/>
          </a:xfrm>
        </p:grpSpPr>
        <p:cxnSp>
          <p:nvCxnSpPr>
            <p:cNvPr id="16" name="Straight Connector 15">
              <a:extLst>
                <a:ext uri="{FF2B5EF4-FFF2-40B4-BE49-F238E27FC236}">
                  <a16:creationId xmlns:a16="http://schemas.microsoft.com/office/drawing/2014/main" id="{55F1BC32-CE67-6293-1CC8-7591A781BE09}"/>
                </a:ext>
              </a:extLst>
            </p:cNvPr>
            <p:cNvCxnSpPr/>
            <p:nvPr/>
          </p:nvCxnSpPr>
          <p:spPr>
            <a:xfrm>
              <a:off x="0" y="3602038"/>
              <a:ext cx="10104120" cy="0"/>
            </a:xfrm>
            <a:prstGeom prst="line">
              <a:avLst/>
            </a:prstGeom>
            <a:ln w="2540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8BC123E-C466-BB05-4CA0-25E496F9EE81}"/>
                </a:ext>
              </a:extLst>
            </p:cNvPr>
            <p:cNvCxnSpPr/>
            <p:nvPr/>
          </p:nvCxnSpPr>
          <p:spPr>
            <a:xfrm>
              <a:off x="167640" y="3509963"/>
              <a:ext cx="10104120" cy="0"/>
            </a:xfrm>
            <a:prstGeom prst="line">
              <a:avLst/>
            </a:prstGeom>
            <a:ln w="254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CCCAA28-22C6-6CB7-28EE-67B48833D328}"/>
                </a:ext>
              </a:extLst>
            </p:cNvPr>
            <p:cNvCxnSpPr/>
            <p:nvPr/>
          </p:nvCxnSpPr>
          <p:spPr>
            <a:xfrm>
              <a:off x="370840" y="3556318"/>
              <a:ext cx="10104120" cy="0"/>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127288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824E5FD2-6588-7621-EB84-1BDCA011D07D}"/>
              </a:ext>
            </a:extLst>
          </p:cNvPr>
          <p:cNvGrpSpPr/>
          <p:nvPr/>
        </p:nvGrpSpPr>
        <p:grpSpPr>
          <a:xfrm rot="16200000">
            <a:off x="6568440" y="1234440"/>
            <a:ext cx="6858000" cy="4389120"/>
            <a:chOff x="0" y="2468880"/>
            <a:chExt cx="11506200" cy="4389120"/>
          </a:xfrm>
        </p:grpSpPr>
        <p:grpSp>
          <p:nvGrpSpPr>
            <p:cNvPr id="16" name="Group 15">
              <a:extLst>
                <a:ext uri="{FF2B5EF4-FFF2-40B4-BE49-F238E27FC236}">
                  <a16:creationId xmlns:a16="http://schemas.microsoft.com/office/drawing/2014/main" id="{9581CC6A-D396-C0DE-B60F-895E0A27739E}"/>
                </a:ext>
              </a:extLst>
            </p:cNvPr>
            <p:cNvGrpSpPr/>
            <p:nvPr/>
          </p:nvGrpSpPr>
          <p:grpSpPr>
            <a:xfrm>
              <a:off x="0" y="2468880"/>
              <a:ext cx="10474960" cy="2479039"/>
              <a:chOff x="213360" y="556576"/>
              <a:chExt cx="2458720" cy="2158683"/>
            </a:xfrm>
          </p:grpSpPr>
          <p:sp>
            <p:nvSpPr>
              <p:cNvPr id="21" name="Frame 20">
                <a:extLst>
                  <a:ext uri="{FF2B5EF4-FFF2-40B4-BE49-F238E27FC236}">
                    <a16:creationId xmlns:a16="http://schemas.microsoft.com/office/drawing/2014/main" id="{F9903DDB-C320-9869-9706-98D5FDF92998}"/>
                  </a:ext>
                </a:extLst>
              </p:cNvPr>
              <p:cNvSpPr/>
              <p:nvPr/>
            </p:nvSpPr>
            <p:spPr>
              <a:xfrm>
                <a:off x="2286000" y="1796093"/>
                <a:ext cx="386080" cy="406399"/>
              </a:xfrm>
              <a:prstGeom prst="frame">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Frame 21">
                <a:extLst>
                  <a:ext uri="{FF2B5EF4-FFF2-40B4-BE49-F238E27FC236}">
                    <a16:creationId xmlns:a16="http://schemas.microsoft.com/office/drawing/2014/main" id="{778CD435-C88A-0835-E1F0-91CDE1FD08EE}"/>
                  </a:ext>
                </a:extLst>
              </p:cNvPr>
              <p:cNvSpPr/>
              <p:nvPr/>
            </p:nvSpPr>
            <p:spPr>
              <a:xfrm>
                <a:off x="1935480" y="2035882"/>
                <a:ext cx="518160" cy="425294"/>
              </a:xfrm>
              <a:prstGeom prst="frame">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ame 22">
                <a:extLst>
                  <a:ext uri="{FF2B5EF4-FFF2-40B4-BE49-F238E27FC236}">
                    <a16:creationId xmlns:a16="http://schemas.microsoft.com/office/drawing/2014/main" id="{7E413EB0-5C6E-9690-9D80-EE680E7523CC}"/>
                  </a:ext>
                </a:extLst>
              </p:cNvPr>
              <p:cNvSpPr/>
              <p:nvPr/>
            </p:nvSpPr>
            <p:spPr>
              <a:xfrm>
                <a:off x="213360" y="556576"/>
                <a:ext cx="1489302" cy="1645916"/>
              </a:xfrm>
              <a:prstGeom prst="fram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Frame 23">
                <a:extLst>
                  <a:ext uri="{FF2B5EF4-FFF2-40B4-BE49-F238E27FC236}">
                    <a16:creationId xmlns:a16="http://schemas.microsoft.com/office/drawing/2014/main" id="{A82616DC-E16F-2D64-F8B3-78EAB7182392}"/>
                  </a:ext>
                </a:extLst>
              </p:cNvPr>
              <p:cNvSpPr/>
              <p:nvPr/>
            </p:nvSpPr>
            <p:spPr>
              <a:xfrm>
                <a:off x="889000" y="1587500"/>
                <a:ext cx="1148080" cy="1127759"/>
              </a:xfrm>
              <a:prstGeom prst="fram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 name="Frame 24">
                <a:extLst>
                  <a:ext uri="{FF2B5EF4-FFF2-40B4-BE49-F238E27FC236}">
                    <a16:creationId xmlns:a16="http://schemas.microsoft.com/office/drawing/2014/main" id="{49B643BA-D198-28DA-ABD3-AFC980118157}"/>
                  </a:ext>
                </a:extLst>
              </p:cNvPr>
              <p:cNvSpPr/>
              <p:nvPr/>
            </p:nvSpPr>
            <p:spPr>
              <a:xfrm>
                <a:off x="731520" y="1351280"/>
                <a:ext cx="670560" cy="1127759"/>
              </a:xfrm>
              <a:prstGeom prst="fram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17" name="Rectangle 16">
              <a:extLst>
                <a:ext uri="{FF2B5EF4-FFF2-40B4-BE49-F238E27FC236}">
                  <a16:creationId xmlns:a16="http://schemas.microsoft.com/office/drawing/2014/main" id="{653D24A7-455D-C8E1-DF70-D870582D51F0}"/>
                </a:ext>
              </a:extLst>
            </p:cNvPr>
            <p:cNvSpPr/>
            <p:nvPr/>
          </p:nvSpPr>
          <p:spPr>
            <a:xfrm>
              <a:off x="0" y="3606802"/>
              <a:ext cx="11506200" cy="3251198"/>
            </a:xfrm>
            <a:prstGeom prst="rect">
              <a:avLst/>
            </a:prstGeom>
            <a:solidFill>
              <a:schemeClr val="accent2">
                <a:lumMod val="20000"/>
                <a:lumOff val="80000"/>
                <a:alpha val="45000"/>
              </a:schemeClr>
            </a:solidFill>
            <a:ln>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93ADDAF1-E1CB-E5F9-AD70-B5965970FE51}"/>
                </a:ext>
              </a:extLst>
            </p:cNvPr>
            <p:cNvCxnSpPr/>
            <p:nvPr/>
          </p:nvCxnSpPr>
          <p:spPr>
            <a:xfrm>
              <a:off x="0" y="3602038"/>
              <a:ext cx="10104120" cy="0"/>
            </a:xfrm>
            <a:prstGeom prst="line">
              <a:avLst/>
            </a:prstGeom>
            <a:ln w="2540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37515D4-895A-7ACC-19F1-F993D05A482F}"/>
                </a:ext>
              </a:extLst>
            </p:cNvPr>
            <p:cNvCxnSpPr/>
            <p:nvPr/>
          </p:nvCxnSpPr>
          <p:spPr>
            <a:xfrm>
              <a:off x="167640" y="3509963"/>
              <a:ext cx="10104120" cy="0"/>
            </a:xfrm>
            <a:prstGeom prst="line">
              <a:avLst/>
            </a:prstGeom>
            <a:ln w="254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33B9D60-C6EF-5696-B061-2E01F5A2E635}"/>
                </a:ext>
              </a:extLst>
            </p:cNvPr>
            <p:cNvCxnSpPr/>
            <p:nvPr/>
          </p:nvCxnSpPr>
          <p:spPr>
            <a:xfrm>
              <a:off x="370840" y="3556318"/>
              <a:ext cx="10104120" cy="0"/>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91DE3417-E46E-9198-5EF8-B1068C650282}"/>
              </a:ext>
            </a:extLst>
          </p:cNvPr>
          <p:cNvSpPr>
            <a:spLocks noGrp="1"/>
          </p:cNvSpPr>
          <p:nvPr>
            <p:ph type="title"/>
          </p:nvPr>
        </p:nvSpPr>
        <p:spPr/>
        <p:txBody>
          <a:bodyPr/>
          <a:lstStyle/>
          <a:p>
            <a:r>
              <a:rPr lang="en-US" dirty="0">
                <a:effectLst>
                  <a:reflection blurRad="12700" stA="20000" endPos="30000" dist="12700" dir="5400000" sy="-100000" algn="bl" rotWithShape="0"/>
                </a:effectLst>
                <a:latin typeface="Avenir Next LT Pro Light" panose="020B0304020202020204" pitchFamily="34" charset="0"/>
              </a:rPr>
              <a:t>Using Waterfall Model VS. Agile</a:t>
            </a:r>
          </a:p>
        </p:txBody>
      </p:sp>
      <p:sp>
        <p:nvSpPr>
          <p:cNvPr id="3" name="Content Placeholder 2">
            <a:extLst>
              <a:ext uri="{FF2B5EF4-FFF2-40B4-BE49-F238E27FC236}">
                <a16:creationId xmlns:a16="http://schemas.microsoft.com/office/drawing/2014/main" id="{064F4E33-4BA4-FA14-EAF0-C57079D254E1}"/>
              </a:ext>
            </a:extLst>
          </p:cNvPr>
          <p:cNvSpPr>
            <a:spLocks noGrp="1"/>
          </p:cNvSpPr>
          <p:nvPr>
            <p:ph idx="1"/>
          </p:nvPr>
        </p:nvSpPr>
        <p:spPr/>
        <p:txBody>
          <a:bodyPr>
            <a:normAutofit lnSpcReduction="10000"/>
          </a:bodyPr>
          <a:lstStyle/>
          <a:p>
            <a:pPr marL="0" indent="0">
              <a:buNone/>
            </a:pPr>
            <a:r>
              <a:rPr lang="en-US" dirty="0">
                <a:latin typeface="Agency FB" panose="020B0503020202020204" pitchFamily="34" charset="0"/>
              </a:rPr>
              <a:t>The Waterfall approach is best suited for projects that will not have constant changes.</a:t>
            </a:r>
          </a:p>
          <a:p>
            <a:pPr marL="0" indent="0">
              <a:buNone/>
            </a:pPr>
            <a:r>
              <a:rPr lang="en-US" b="1" dirty="0">
                <a:latin typeface="Agency FB" panose="020B0503020202020204" pitchFamily="34" charset="0"/>
              </a:rPr>
              <a:t>If the SNHU Travel project used a Waterfall Model instead:</a:t>
            </a:r>
          </a:p>
          <a:p>
            <a:r>
              <a:rPr lang="en-US" dirty="0">
                <a:latin typeface="Avenir Next LT Pro Light" panose="020B0304020202020204" pitchFamily="34" charset="0"/>
              </a:rPr>
              <a:t>All features are planned at the beginning and changes are not allowed till the very end of the project. For instance, the stakeholders/customers wanted to change from overall travel to detox and wellness themed travel, but the change cannot take place till late in the project causing a delay in the release.</a:t>
            </a:r>
          </a:p>
          <a:p>
            <a:r>
              <a:rPr lang="en-US" dirty="0">
                <a:latin typeface="Avenir Next LT Pro Light" panose="020B0304020202020204" pitchFamily="34" charset="0"/>
              </a:rPr>
              <a:t>Code is not tested till the end of the project, possibly leading to major bugs that now need to be fixed in a short time frame and causing the release date to be pushed back and the company to spend more money on the delayed application.</a:t>
            </a:r>
          </a:p>
        </p:txBody>
      </p:sp>
      <p:grpSp>
        <p:nvGrpSpPr>
          <p:cNvPr id="26" name="Group 25">
            <a:extLst>
              <a:ext uri="{FF2B5EF4-FFF2-40B4-BE49-F238E27FC236}">
                <a16:creationId xmlns:a16="http://schemas.microsoft.com/office/drawing/2014/main" id="{947C674B-1520-C9BA-6DD7-837D1FCFD73D}"/>
              </a:ext>
            </a:extLst>
          </p:cNvPr>
          <p:cNvGrpSpPr/>
          <p:nvPr/>
        </p:nvGrpSpPr>
        <p:grpSpPr>
          <a:xfrm>
            <a:off x="0" y="1437956"/>
            <a:ext cx="10474960" cy="92075"/>
            <a:chOff x="0" y="3509963"/>
            <a:chExt cx="10474960" cy="92075"/>
          </a:xfrm>
        </p:grpSpPr>
        <p:cxnSp>
          <p:nvCxnSpPr>
            <p:cNvPr id="27" name="Straight Connector 26">
              <a:extLst>
                <a:ext uri="{FF2B5EF4-FFF2-40B4-BE49-F238E27FC236}">
                  <a16:creationId xmlns:a16="http://schemas.microsoft.com/office/drawing/2014/main" id="{37F28B8D-13CB-8984-F897-8502CDA87AFF}"/>
                </a:ext>
              </a:extLst>
            </p:cNvPr>
            <p:cNvCxnSpPr/>
            <p:nvPr/>
          </p:nvCxnSpPr>
          <p:spPr>
            <a:xfrm>
              <a:off x="0" y="3602038"/>
              <a:ext cx="10104120" cy="0"/>
            </a:xfrm>
            <a:prstGeom prst="line">
              <a:avLst/>
            </a:prstGeom>
            <a:ln w="2540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F9D9389-56C2-530C-9C3B-377EC66A3EDF}"/>
                </a:ext>
              </a:extLst>
            </p:cNvPr>
            <p:cNvCxnSpPr/>
            <p:nvPr/>
          </p:nvCxnSpPr>
          <p:spPr>
            <a:xfrm>
              <a:off x="167640" y="3509963"/>
              <a:ext cx="10104120" cy="0"/>
            </a:xfrm>
            <a:prstGeom prst="line">
              <a:avLst/>
            </a:prstGeom>
            <a:ln w="254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6B0C73C-8978-C243-DAD6-1E7181E69EF3}"/>
                </a:ext>
              </a:extLst>
            </p:cNvPr>
            <p:cNvCxnSpPr/>
            <p:nvPr/>
          </p:nvCxnSpPr>
          <p:spPr>
            <a:xfrm>
              <a:off x="370840" y="3556318"/>
              <a:ext cx="10104120" cy="0"/>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852087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0DE59D2D-2836-4972-B5D2-A143D5AAC644}"/>
              </a:ext>
            </a:extLst>
          </p:cNvPr>
          <p:cNvGrpSpPr/>
          <p:nvPr/>
        </p:nvGrpSpPr>
        <p:grpSpPr>
          <a:xfrm rot="16200000">
            <a:off x="6568440" y="1234440"/>
            <a:ext cx="6858000" cy="4389120"/>
            <a:chOff x="0" y="2468880"/>
            <a:chExt cx="11506200" cy="4389120"/>
          </a:xfrm>
        </p:grpSpPr>
        <p:grpSp>
          <p:nvGrpSpPr>
            <p:cNvPr id="5" name="Group 4">
              <a:extLst>
                <a:ext uri="{FF2B5EF4-FFF2-40B4-BE49-F238E27FC236}">
                  <a16:creationId xmlns:a16="http://schemas.microsoft.com/office/drawing/2014/main" id="{7A3E298F-C19F-C6A9-9492-D5F4733956B9}"/>
                </a:ext>
              </a:extLst>
            </p:cNvPr>
            <p:cNvGrpSpPr/>
            <p:nvPr/>
          </p:nvGrpSpPr>
          <p:grpSpPr>
            <a:xfrm>
              <a:off x="0" y="2468880"/>
              <a:ext cx="10474960" cy="2479039"/>
              <a:chOff x="213360" y="556576"/>
              <a:chExt cx="2458720" cy="2158683"/>
            </a:xfrm>
          </p:grpSpPr>
          <p:sp>
            <p:nvSpPr>
              <p:cNvPr id="10" name="Frame 9">
                <a:extLst>
                  <a:ext uri="{FF2B5EF4-FFF2-40B4-BE49-F238E27FC236}">
                    <a16:creationId xmlns:a16="http://schemas.microsoft.com/office/drawing/2014/main" id="{7DA144EA-4834-0BA2-F2A5-CB9A2143E544}"/>
                  </a:ext>
                </a:extLst>
              </p:cNvPr>
              <p:cNvSpPr/>
              <p:nvPr/>
            </p:nvSpPr>
            <p:spPr>
              <a:xfrm>
                <a:off x="2286000" y="1796093"/>
                <a:ext cx="386080" cy="406399"/>
              </a:xfrm>
              <a:prstGeom prst="frame">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Frame 10">
                <a:extLst>
                  <a:ext uri="{FF2B5EF4-FFF2-40B4-BE49-F238E27FC236}">
                    <a16:creationId xmlns:a16="http://schemas.microsoft.com/office/drawing/2014/main" id="{9EF3B029-88C7-5197-5E75-897A05BAB670}"/>
                  </a:ext>
                </a:extLst>
              </p:cNvPr>
              <p:cNvSpPr/>
              <p:nvPr/>
            </p:nvSpPr>
            <p:spPr>
              <a:xfrm>
                <a:off x="1935480" y="2035882"/>
                <a:ext cx="518160" cy="425294"/>
              </a:xfrm>
              <a:prstGeom prst="frame">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a:extLst>
                  <a:ext uri="{FF2B5EF4-FFF2-40B4-BE49-F238E27FC236}">
                    <a16:creationId xmlns:a16="http://schemas.microsoft.com/office/drawing/2014/main" id="{07736104-29E4-CCF8-D9C4-96B16B994F8D}"/>
                  </a:ext>
                </a:extLst>
              </p:cNvPr>
              <p:cNvSpPr/>
              <p:nvPr/>
            </p:nvSpPr>
            <p:spPr>
              <a:xfrm>
                <a:off x="213360" y="556576"/>
                <a:ext cx="1489302" cy="1645916"/>
              </a:xfrm>
              <a:prstGeom prst="fram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Frame 12">
                <a:extLst>
                  <a:ext uri="{FF2B5EF4-FFF2-40B4-BE49-F238E27FC236}">
                    <a16:creationId xmlns:a16="http://schemas.microsoft.com/office/drawing/2014/main" id="{0FC1B60C-B470-870C-DC2A-1E90C0B77612}"/>
                  </a:ext>
                </a:extLst>
              </p:cNvPr>
              <p:cNvSpPr/>
              <p:nvPr/>
            </p:nvSpPr>
            <p:spPr>
              <a:xfrm>
                <a:off x="889000" y="1587500"/>
                <a:ext cx="1148080" cy="1127759"/>
              </a:xfrm>
              <a:prstGeom prst="fram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a:extLst>
                  <a:ext uri="{FF2B5EF4-FFF2-40B4-BE49-F238E27FC236}">
                    <a16:creationId xmlns:a16="http://schemas.microsoft.com/office/drawing/2014/main" id="{24C12C16-4D47-6403-F7FE-FDA969A8DF89}"/>
                  </a:ext>
                </a:extLst>
              </p:cNvPr>
              <p:cNvSpPr/>
              <p:nvPr/>
            </p:nvSpPr>
            <p:spPr>
              <a:xfrm>
                <a:off x="731520" y="1351280"/>
                <a:ext cx="670560" cy="1127759"/>
              </a:xfrm>
              <a:prstGeom prst="fram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6" name="Rectangle 5">
              <a:extLst>
                <a:ext uri="{FF2B5EF4-FFF2-40B4-BE49-F238E27FC236}">
                  <a16:creationId xmlns:a16="http://schemas.microsoft.com/office/drawing/2014/main" id="{CC779FCD-DA16-05B0-1BA8-C5010C975BE1}"/>
                </a:ext>
              </a:extLst>
            </p:cNvPr>
            <p:cNvSpPr/>
            <p:nvPr/>
          </p:nvSpPr>
          <p:spPr>
            <a:xfrm>
              <a:off x="0" y="3606802"/>
              <a:ext cx="11506200" cy="3251198"/>
            </a:xfrm>
            <a:prstGeom prst="rect">
              <a:avLst/>
            </a:prstGeom>
            <a:solidFill>
              <a:schemeClr val="accent2">
                <a:lumMod val="20000"/>
                <a:lumOff val="80000"/>
                <a:alpha val="45000"/>
              </a:schemeClr>
            </a:solidFill>
            <a:ln>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E668A16-09F7-75DF-60AA-B06754B189D4}"/>
                </a:ext>
              </a:extLst>
            </p:cNvPr>
            <p:cNvCxnSpPr/>
            <p:nvPr/>
          </p:nvCxnSpPr>
          <p:spPr>
            <a:xfrm>
              <a:off x="0" y="3602038"/>
              <a:ext cx="10104120" cy="0"/>
            </a:xfrm>
            <a:prstGeom prst="line">
              <a:avLst/>
            </a:prstGeom>
            <a:ln w="2540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2390474-FEE8-BFC2-15AE-CDE47B0A82AF}"/>
                </a:ext>
              </a:extLst>
            </p:cNvPr>
            <p:cNvCxnSpPr/>
            <p:nvPr/>
          </p:nvCxnSpPr>
          <p:spPr>
            <a:xfrm>
              <a:off x="167640" y="3509963"/>
              <a:ext cx="10104120" cy="0"/>
            </a:xfrm>
            <a:prstGeom prst="line">
              <a:avLst/>
            </a:prstGeom>
            <a:ln w="254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3136F36-4B3B-5757-C820-651EFD1DB0F0}"/>
                </a:ext>
              </a:extLst>
            </p:cNvPr>
            <p:cNvCxnSpPr/>
            <p:nvPr/>
          </p:nvCxnSpPr>
          <p:spPr>
            <a:xfrm>
              <a:off x="370840" y="3556318"/>
              <a:ext cx="10104120" cy="0"/>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1101E51C-F33A-409D-341E-2E613A68BF16}"/>
              </a:ext>
            </a:extLst>
          </p:cNvPr>
          <p:cNvSpPr>
            <a:spLocks noGrp="1"/>
          </p:cNvSpPr>
          <p:nvPr>
            <p:ph type="title"/>
          </p:nvPr>
        </p:nvSpPr>
        <p:spPr/>
        <p:txBody>
          <a:bodyPr/>
          <a:lstStyle/>
          <a:p>
            <a:r>
              <a:rPr lang="en-US" dirty="0">
                <a:effectLst>
                  <a:reflection blurRad="12700" stA="20000" endPos="30000" dist="12700" dir="5400000" sy="-100000" algn="bl" rotWithShape="0"/>
                </a:effectLst>
                <a:latin typeface="Avenir Next LT Pro Light" panose="020B0304020202020204" pitchFamily="34" charset="0"/>
              </a:rPr>
              <a:t>When should you use a Waterfall or Agile Approach?</a:t>
            </a:r>
          </a:p>
        </p:txBody>
      </p:sp>
      <p:sp>
        <p:nvSpPr>
          <p:cNvPr id="3" name="Content Placeholder 2">
            <a:extLst>
              <a:ext uri="{FF2B5EF4-FFF2-40B4-BE49-F238E27FC236}">
                <a16:creationId xmlns:a16="http://schemas.microsoft.com/office/drawing/2014/main" id="{C602EBDF-5BE3-23B8-43CC-1BF0B36C11A7}"/>
              </a:ext>
            </a:extLst>
          </p:cNvPr>
          <p:cNvSpPr>
            <a:spLocks noGrp="1"/>
          </p:cNvSpPr>
          <p:nvPr>
            <p:ph idx="1"/>
          </p:nvPr>
        </p:nvSpPr>
        <p:spPr/>
        <p:txBody>
          <a:bodyPr>
            <a:normAutofit lnSpcReduction="10000"/>
          </a:bodyPr>
          <a:lstStyle/>
          <a:p>
            <a:pPr marL="0" indent="0">
              <a:buNone/>
            </a:pPr>
            <a:r>
              <a:rPr lang="en-US" b="1" dirty="0">
                <a:latin typeface="Agency FB" panose="020B0503020202020204" pitchFamily="34" charset="0"/>
              </a:rPr>
              <a:t>Waterfall</a:t>
            </a:r>
          </a:p>
          <a:p>
            <a:r>
              <a:rPr lang="en-US" dirty="0">
                <a:latin typeface="Avenir Next LT Pro Light" panose="020B0304020202020204" pitchFamily="34" charset="0"/>
              </a:rPr>
              <a:t>This process is for projects that need well-structured planning and are not expected to experience changes.</a:t>
            </a:r>
          </a:p>
          <a:p>
            <a:r>
              <a:rPr lang="en-US" dirty="0">
                <a:latin typeface="Avenir Next LT Pro Light" panose="020B0304020202020204" pitchFamily="34" charset="0"/>
              </a:rPr>
              <a:t>Is best for when lots of detailed planning documentations are needed to be created.</a:t>
            </a:r>
          </a:p>
          <a:p>
            <a:r>
              <a:rPr lang="en-US" dirty="0">
                <a:latin typeface="Avenir Next LT Pro Light" panose="020B0304020202020204" pitchFamily="34" charset="0"/>
              </a:rPr>
              <a:t>Follows a step-by-step process which requires one stage to be finished before starting the next one.</a:t>
            </a:r>
          </a:p>
          <a:p>
            <a:r>
              <a:rPr lang="en-US" dirty="0">
                <a:latin typeface="Avenir Next LT Pro Light" panose="020B0304020202020204" pitchFamily="34" charset="0"/>
              </a:rPr>
              <a:t>Stakeholders/customers are involved at the beginning of the project to determine what is needed, but are not very involved once the project starts.</a:t>
            </a:r>
          </a:p>
        </p:txBody>
      </p:sp>
      <p:grpSp>
        <p:nvGrpSpPr>
          <p:cNvPr id="19" name="Group 18">
            <a:extLst>
              <a:ext uri="{FF2B5EF4-FFF2-40B4-BE49-F238E27FC236}">
                <a16:creationId xmlns:a16="http://schemas.microsoft.com/office/drawing/2014/main" id="{9829A3DC-D7F5-D8F7-BA5D-2AC756DAFF35}"/>
              </a:ext>
            </a:extLst>
          </p:cNvPr>
          <p:cNvGrpSpPr/>
          <p:nvPr/>
        </p:nvGrpSpPr>
        <p:grpSpPr>
          <a:xfrm>
            <a:off x="0" y="1666081"/>
            <a:ext cx="10474960" cy="92075"/>
            <a:chOff x="0" y="3509963"/>
            <a:chExt cx="10474960" cy="92075"/>
          </a:xfrm>
        </p:grpSpPr>
        <p:cxnSp>
          <p:nvCxnSpPr>
            <p:cNvPr id="20" name="Straight Connector 19">
              <a:extLst>
                <a:ext uri="{FF2B5EF4-FFF2-40B4-BE49-F238E27FC236}">
                  <a16:creationId xmlns:a16="http://schemas.microsoft.com/office/drawing/2014/main" id="{1735520B-255D-2023-C64F-091F48796B80}"/>
                </a:ext>
              </a:extLst>
            </p:cNvPr>
            <p:cNvCxnSpPr/>
            <p:nvPr/>
          </p:nvCxnSpPr>
          <p:spPr>
            <a:xfrm>
              <a:off x="0" y="3602038"/>
              <a:ext cx="10104120" cy="0"/>
            </a:xfrm>
            <a:prstGeom prst="line">
              <a:avLst/>
            </a:prstGeom>
            <a:ln w="2540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88B912E-60D1-1590-00F4-A12EEC26E361}"/>
                </a:ext>
              </a:extLst>
            </p:cNvPr>
            <p:cNvCxnSpPr/>
            <p:nvPr/>
          </p:nvCxnSpPr>
          <p:spPr>
            <a:xfrm>
              <a:off x="167640" y="3509963"/>
              <a:ext cx="10104120" cy="0"/>
            </a:xfrm>
            <a:prstGeom prst="line">
              <a:avLst/>
            </a:prstGeom>
            <a:ln w="254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D132424-E8B9-1F25-D68C-1130595DF4CB}"/>
                </a:ext>
              </a:extLst>
            </p:cNvPr>
            <p:cNvCxnSpPr/>
            <p:nvPr/>
          </p:nvCxnSpPr>
          <p:spPr>
            <a:xfrm>
              <a:off x="370840" y="3556318"/>
              <a:ext cx="10104120" cy="0"/>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23" name="TextBox 22">
            <a:extLst>
              <a:ext uri="{FF2B5EF4-FFF2-40B4-BE49-F238E27FC236}">
                <a16:creationId xmlns:a16="http://schemas.microsoft.com/office/drawing/2014/main" id="{9B4ACABA-64C4-0127-A246-8FF517985BD5}"/>
              </a:ext>
            </a:extLst>
          </p:cNvPr>
          <p:cNvSpPr txBox="1"/>
          <p:nvPr/>
        </p:nvSpPr>
        <p:spPr>
          <a:xfrm>
            <a:off x="167640" y="6388751"/>
            <a:ext cx="609600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(Adobe Communications Team, 2025)</a:t>
            </a:r>
          </a:p>
        </p:txBody>
      </p:sp>
    </p:spTree>
    <p:extLst>
      <p:ext uri="{BB962C8B-B14F-4D97-AF65-F5344CB8AC3E}">
        <p14:creationId xmlns:p14="http://schemas.microsoft.com/office/powerpoint/2010/main" val="8465852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4620A154-BEEB-88B5-DF6E-71DBA35E0A27}"/>
              </a:ext>
            </a:extLst>
          </p:cNvPr>
          <p:cNvGrpSpPr/>
          <p:nvPr/>
        </p:nvGrpSpPr>
        <p:grpSpPr>
          <a:xfrm rot="16200000">
            <a:off x="6568440" y="1234440"/>
            <a:ext cx="6858000" cy="4389120"/>
            <a:chOff x="0" y="2468880"/>
            <a:chExt cx="11506200" cy="4389120"/>
          </a:xfrm>
        </p:grpSpPr>
        <p:grpSp>
          <p:nvGrpSpPr>
            <p:cNvPr id="5" name="Group 4">
              <a:extLst>
                <a:ext uri="{FF2B5EF4-FFF2-40B4-BE49-F238E27FC236}">
                  <a16:creationId xmlns:a16="http://schemas.microsoft.com/office/drawing/2014/main" id="{1D71BA31-635D-D3A2-1B3C-7E49FA11ABF4}"/>
                </a:ext>
              </a:extLst>
            </p:cNvPr>
            <p:cNvGrpSpPr/>
            <p:nvPr/>
          </p:nvGrpSpPr>
          <p:grpSpPr>
            <a:xfrm>
              <a:off x="0" y="2468880"/>
              <a:ext cx="10474960" cy="2479039"/>
              <a:chOff x="213360" y="556576"/>
              <a:chExt cx="2458720" cy="2158683"/>
            </a:xfrm>
          </p:grpSpPr>
          <p:sp>
            <p:nvSpPr>
              <p:cNvPr id="10" name="Frame 9">
                <a:extLst>
                  <a:ext uri="{FF2B5EF4-FFF2-40B4-BE49-F238E27FC236}">
                    <a16:creationId xmlns:a16="http://schemas.microsoft.com/office/drawing/2014/main" id="{3D58D93D-7B45-2F40-5903-5E7CC04225E5}"/>
                  </a:ext>
                </a:extLst>
              </p:cNvPr>
              <p:cNvSpPr/>
              <p:nvPr/>
            </p:nvSpPr>
            <p:spPr>
              <a:xfrm>
                <a:off x="2286000" y="1796093"/>
                <a:ext cx="386080" cy="406399"/>
              </a:xfrm>
              <a:prstGeom prst="frame">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Frame 10">
                <a:extLst>
                  <a:ext uri="{FF2B5EF4-FFF2-40B4-BE49-F238E27FC236}">
                    <a16:creationId xmlns:a16="http://schemas.microsoft.com/office/drawing/2014/main" id="{C659EB81-6C77-7AB6-8DB0-4441DD4406E5}"/>
                  </a:ext>
                </a:extLst>
              </p:cNvPr>
              <p:cNvSpPr/>
              <p:nvPr/>
            </p:nvSpPr>
            <p:spPr>
              <a:xfrm>
                <a:off x="1935480" y="2035882"/>
                <a:ext cx="518160" cy="425294"/>
              </a:xfrm>
              <a:prstGeom prst="frame">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a:extLst>
                  <a:ext uri="{FF2B5EF4-FFF2-40B4-BE49-F238E27FC236}">
                    <a16:creationId xmlns:a16="http://schemas.microsoft.com/office/drawing/2014/main" id="{D251ACAD-8E23-5885-9F9D-0B37D2C63BBF}"/>
                  </a:ext>
                </a:extLst>
              </p:cNvPr>
              <p:cNvSpPr/>
              <p:nvPr/>
            </p:nvSpPr>
            <p:spPr>
              <a:xfrm>
                <a:off x="213360" y="556576"/>
                <a:ext cx="1489302" cy="1645916"/>
              </a:xfrm>
              <a:prstGeom prst="fram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Frame 12">
                <a:extLst>
                  <a:ext uri="{FF2B5EF4-FFF2-40B4-BE49-F238E27FC236}">
                    <a16:creationId xmlns:a16="http://schemas.microsoft.com/office/drawing/2014/main" id="{9A9AB60C-CCE2-074B-2DA7-0F08456AF6D9}"/>
                  </a:ext>
                </a:extLst>
              </p:cNvPr>
              <p:cNvSpPr/>
              <p:nvPr/>
            </p:nvSpPr>
            <p:spPr>
              <a:xfrm>
                <a:off x="889000" y="1587500"/>
                <a:ext cx="1148080" cy="1127759"/>
              </a:xfrm>
              <a:prstGeom prst="fram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a:extLst>
                  <a:ext uri="{FF2B5EF4-FFF2-40B4-BE49-F238E27FC236}">
                    <a16:creationId xmlns:a16="http://schemas.microsoft.com/office/drawing/2014/main" id="{57F16DF9-AF56-389D-7CBB-E982736F3DAD}"/>
                  </a:ext>
                </a:extLst>
              </p:cNvPr>
              <p:cNvSpPr/>
              <p:nvPr/>
            </p:nvSpPr>
            <p:spPr>
              <a:xfrm>
                <a:off x="731520" y="1351280"/>
                <a:ext cx="670560" cy="1127759"/>
              </a:xfrm>
              <a:prstGeom prst="fram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6" name="Rectangle 5">
              <a:extLst>
                <a:ext uri="{FF2B5EF4-FFF2-40B4-BE49-F238E27FC236}">
                  <a16:creationId xmlns:a16="http://schemas.microsoft.com/office/drawing/2014/main" id="{0EE135A2-949C-B5D8-187A-B207C6F8EAF1}"/>
                </a:ext>
              </a:extLst>
            </p:cNvPr>
            <p:cNvSpPr/>
            <p:nvPr/>
          </p:nvSpPr>
          <p:spPr>
            <a:xfrm>
              <a:off x="0" y="3606802"/>
              <a:ext cx="11506200" cy="3251198"/>
            </a:xfrm>
            <a:prstGeom prst="rect">
              <a:avLst/>
            </a:prstGeom>
            <a:solidFill>
              <a:schemeClr val="accent2">
                <a:lumMod val="20000"/>
                <a:lumOff val="80000"/>
                <a:alpha val="45000"/>
              </a:schemeClr>
            </a:solidFill>
            <a:ln>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852C5289-EA44-D1AE-CC96-036660DF6389}"/>
                </a:ext>
              </a:extLst>
            </p:cNvPr>
            <p:cNvCxnSpPr/>
            <p:nvPr/>
          </p:nvCxnSpPr>
          <p:spPr>
            <a:xfrm>
              <a:off x="0" y="3602038"/>
              <a:ext cx="10104120" cy="0"/>
            </a:xfrm>
            <a:prstGeom prst="line">
              <a:avLst/>
            </a:prstGeom>
            <a:ln w="2540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130BEE3-098D-93BC-BA9E-7A736ECFE157}"/>
                </a:ext>
              </a:extLst>
            </p:cNvPr>
            <p:cNvCxnSpPr/>
            <p:nvPr/>
          </p:nvCxnSpPr>
          <p:spPr>
            <a:xfrm>
              <a:off x="167640" y="3509963"/>
              <a:ext cx="10104120" cy="0"/>
            </a:xfrm>
            <a:prstGeom prst="line">
              <a:avLst/>
            </a:prstGeom>
            <a:ln w="254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8C6E5F2-E99B-4FE8-4088-53DEA27FDEC7}"/>
                </a:ext>
              </a:extLst>
            </p:cNvPr>
            <p:cNvCxnSpPr/>
            <p:nvPr/>
          </p:nvCxnSpPr>
          <p:spPr>
            <a:xfrm>
              <a:off x="370840" y="3556318"/>
              <a:ext cx="10104120" cy="0"/>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FE4C11CC-F9A4-B9B2-597B-36082279FDA7}"/>
              </a:ext>
            </a:extLst>
          </p:cNvPr>
          <p:cNvSpPr>
            <a:spLocks noGrp="1"/>
          </p:cNvSpPr>
          <p:nvPr>
            <p:ph type="title"/>
          </p:nvPr>
        </p:nvSpPr>
        <p:spPr/>
        <p:txBody>
          <a:bodyPr/>
          <a:lstStyle/>
          <a:p>
            <a:r>
              <a:rPr lang="en-US" dirty="0">
                <a:effectLst>
                  <a:reflection blurRad="12700" stA="20000" endPos="30000" dist="12700" dir="5400000" sy="-100000" algn="bl" rotWithShape="0"/>
                </a:effectLst>
                <a:latin typeface="Avenir Next LT Pro Light" panose="020B0304020202020204" pitchFamily="34" charset="0"/>
              </a:rPr>
              <a:t>When should you use a Waterfall or Agile Approach?</a:t>
            </a:r>
          </a:p>
        </p:txBody>
      </p:sp>
      <p:sp>
        <p:nvSpPr>
          <p:cNvPr id="3" name="Content Placeholder 2">
            <a:extLst>
              <a:ext uri="{FF2B5EF4-FFF2-40B4-BE49-F238E27FC236}">
                <a16:creationId xmlns:a16="http://schemas.microsoft.com/office/drawing/2014/main" id="{A5947A2F-82C6-1F50-8E11-CBC2A207A9CE}"/>
              </a:ext>
            </a:extLst>
          </p:cNvPr>
          <p:cNvSpPr>
            <a:spLocks noGrp="1"/>
          </p:cNvSpPr>
          <p:nvPr>
            <p:ph idx="1"/>
          </p:nvPr>
        </p:nvSpPr>
        <p:spPr/>
        <p:txBody>
          <a:bodyPr/>
          <a:lstStyle/>
          <a:p>
            <a:pPr marL="0" indent="0">
              <a:buNone/>
            </a:pPr>
            <a:r>
              <a:rPr lang="en-US" b="1" dirty="0">
                <a:latin typeface="Agency FB" panose="020B0503020202020204" pitchFamily="34" charset="0"/>
              </a:rPr>
              <a:t>Waterfall Continued</a:t>
            </a:r>
          </a:p>
          <a:p>
            <a:r>
              <a:rPr lang="en-US" dirty="0">
                <a:latin typeface="Avenir Next LT Pro Light" panose="020B0304020202020204" pitchFamily="34" charset="0"/>
              </a:rPr>
              <a:t>Making changes is hard to do once a stage is done and could cause problems leading to several issues and huge money costs to fix these issues.</a:t>
            </a:r>
          </a:p>
          <a:p>
            <a:r>
              <a:rPr lang="en-US" dirty="0">
                <a:latin typeface="Avenir Next LT Pro Light" panose="020B0304020202020204" pitchFamily="34" charset="0"/>
              </a:rPr>
              <a:t>The time frame and delivery of the project is determined at the beginning and you are to have one large release at the end of the project.</a:t>
            </a:r>
          </a:p>
          <a:p>
            <a:r>
              <a:rPr lang="en-US" dirty="0">
                <a:latin typeface="Avenir Next LT Pro Light" panose="020B0304020202020204" pitchFamily="34" charset="0"/>
              </a:rPr>
              <a:t>Best for when you want teams that work in individual groups and receive instructions from top down.</a:t>
            </a:r>
          </a:p>
          <a:p>
            <a:endParaRPr lang="en-US" dirty="0"/>
          </a:p>
        </p:txBody>
      </p:sp>
      <p:grpSp>
        <p:nvGrpSpPr>
          <p:cNvPr id="15" name="Group 14">
            <a:extLst>
              <a:ext uri="{FF2B5EF4-FFF2-40B4-BE49-F238E27FC236}">
                <a16:creationId xmlns:a16="http://schemas.microsoft.com/office/drawing/2014/main" id="{7E2B252A-69AB-33C7-B5EB-9D1F4C5304F2}"/>
              </a:ext>
            </a:extLst>
          </p:cNvPr>
          <p:cNvGrpSpPr/>
          <p:nvPr/>
        </p:nvGrpSpPr>
        <p:grpSpPr>
          <a:xfrm>
            <a:off x="0" y="1666081"/>
            <a:ext cx="10474960" cy="92075"/>
            <a:chOff x="0" y="3509963"/>
            <a:chExt cx="10474960" cy="92075"/>
          </a:xfrm>
        </p:grpSpPr>
        <p:cxnSp>
          <p:nvCxnSpPr>
            <p:cNvPr id="16" name="Straight Connector 15">
              <a:extLst>
                <a:ext uri="{FF2B5EF4-FFF2-40B4-BE49-F238E27FC236}">
                  <a16:creationId xmlns:a16="http://schemas.microsoft.com/office/drawing/2014/main" id="{5B6CA4B7-9157-CE06-4584-91A74FBA365F}"/>
                </a:ext>
              </a:extLst>
            </p:cNvPr>
            <p:cNvCxnSpPr/>
            <p:nvPr/>
          </p:nvCxnSpPr>
          <p:spPr>
            <a:xfrm>
              <a:off x="0" y="3602038"/>
              <a:ext cx="10104120" cy="0"/>
            </a:xfrm>
            <a:prstGeom prst="line">
              <a:avLst/>
            </a:prstGeom>
            <a:ln w="2540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DEC8F22-C880-0B48-E52F-D0680C14560D}"/>
                </a:ext>
              </a:extLst>
            </p:cNvPr>
            <p:cNvCxnSpPr/>
            <p:nvPr/>
          </p:nvCxnSpPr>
          <p:spPr>
            <a:xfrm>
              <a:off x="167640" y="3509963"/>
              <a:ext cx="10104120" cy="0"/>
            </a:xfrm>
            <a:prstGeom prst="line">
              <a:avLst/>
            </a:prstGeom>
            <a:ln w="254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A11B213-DEC1-23DE-9657-212291F36158}"/>
                </a:ext>
              </a:extLst>
            </p:cNvPr>
            <p:cNvCxnSpPr/>
            <p:nvPr/>
          </p:nvCxnSpPr>
          <p:spPr>
            <a:xfrm>
              <a:off x="370840" y="3556318"/>
              <a:ext cx="10104120" cy="0"/>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19" name="TextBox 18">
            <a:extLst>
              <a:ext uri="{FF2B5EF4-FFF2-40B4-BE49-F238E27FC236}">
                <a16:creationId xmlns:a16="http://schemas.microsoft.com/office/drawing/2014/main" id="{06687AAB-86A7-06A5-A867-838E5565BF29}"/>
              </a:ext>
            </a:extLst>
          </p:cNvPr>
          <p:cNvSpPr txBox="1"/>
          <p:nvPr/>
        </p:nvSpPr>
        <p:spPr>
          <a:xfrm>
            <a:off x="167640" y="6388751"/>
            <a:ext cx="609600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(Adobe Communications Team, 2025)</a:t>
            </a:r>
          </a:p>
        </p:txBody>
      </p:sp>
    </p:spTree>
    <p:extLst>
      <p:ext uri="{BB962C8B-B14F-4D97-AF65-F5344CB8AC3E}">
        <p14:creationId xmlns:p14="http://schemas.microsoft.com/office/powerpoint/2010/main" val="15617328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12BEEF8-84B2-CF7E-F483-046553BA0F50}"/>
              </a:ext>
            </a:extLst>
          </p:cNvPr>
          <p:cNvGrpSpPr/>
          <p:nvPr/>
        </p:nvGrpSpPr>
        <p:grpSpPr>
          <a:xfrm rot="16200000">
            <a:off x="6568440" y="1234440"/>
            <a:ext cx="6858000" cy="4389120"/>
            <a:chOff x="0" y="2468880"/>
            <a:chExt cx="11506200" cy="4389120"/>
          </a:xfrm>
        </p:grpSpPr>
        <p:grpSp>
          <p:nvGrpSpPr>
            <p:cNvPr id="5" name="Group 4">
              <a:extLst>
                <a:ext uri="{FF2B5EF4-FFF2-40B4-BE49-F238E27FC236}">
                  <a16:creationId xmlns:a16="http://schemas.microsoft.com/office/drawing/2014/main" id="{E61D59FE-ED06-24AE-53FE-B1B321C0D313}"/>
                </a:ext>
              </a:extLst>
            </p:cNvPr>
            <p:cNvGrpSpPr/>
            <p:nvPr/>
          </p:nvGrpSpPr>
          <p:grpSpPr>
            <a:xfrm>
              <a:off x="0" y="2468880"/>
              <a:ext cx="10474960" cy="2479039"/>
              <a:chOff x="213360" y="556576"/>
              <a:chExt cx="2458720" cy="2158683"/>
            </a:xfrm>
          </p:grpSpPr>
          <p:sp>
            <p:nvSpPr>
              <p:cNvPr id="10" name="Frame 9">
                <a:extLst>
                  <a:ext uri="{FF2B5EF4-FFF2-40B4-BE49-F238E27FC236}">
                    <a16:creationId xmlns:a16="http://schemas.microsoft.com/office/drawing/2014/main" id="{3E348183-D3E2-98E0-6D00-81952DF92FD1}"/>
                  </a:ext>
                </a:extLst>
              </p:cNvPr>
              <p:cNvSpPr/>
              <p:nvPr/>
            </p:nvSpPr>
            <p:spPr>
              <a:xfrm>
                <a:off x="2286000" y="1796093"/>
                <a:ext cx="386080" cy="406399"/>
              </a:xfrm>
              <a:prstGeom prst="frame">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Frame 10">
                <a:extLst>
                  <a:ext uri="{FF2B5EF4-FFF2-40B4-BE49-F238E27FC236}">
                    <a16:creationId xmlns:a16="http://schemas.microsoft.com/office/drawing/2014/main" id="{BABAE559-431E-BAB6-5154-B7E88C826816}"/>
                  </a:ext>
                </a:extLst>
              </p:cNvPr>
              <p:cNvSpPr/>
              <p:nvPr/>
            </p:nvSpPr>
            <p:spPr>
              <a:xfrm>
                <a:off x="1935480" y="2035882"/>
                <a:ext cx="518160" cy="425294"/>
              </a:xfrm>
              <a:prstGeom prst="frame">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a:extLst>
                  <a:ext uri="{FF2B5EF4-FFF2-40B4-BE49-F238E27FC236}">
                    <a16:creationId xmlns:a16="http://schemas.microsoft.com/office/drawing/2014/main" id="{0FE96E3E-13B0-F596-710E-42E9D3C98129}"/>
                  </a:ext>
                </a:extLst>
              </p:cNvPr>
              <p:cNvSpPr/>
              <p:nvPr/>
            </p:nvSpPr>
            <p:spPr>
              <a:xfrm>
                <a:off x="213360" y="556576"/>
                <a:ext cx="1489302" cy="1645916"/>
              </a:xfrm>
              <a:prstGeom prst="fram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Frame 12">
                <a:extLst>
                  <a:ext uri="{FF2B5EF4-FFF2-40B4-BE49-F238E27FC236}">
                    <a16:creationId xmlns:a16="http://schemas.microsoft.com/office/drawing/2014/main" id="{48736B42-09EF-1AA4-2388-8CE31CDFAAEE}"/>
                  </a:ext>
                </a:extLst>
              </p:cNvPr>
              <p:cNvSpPr/>
              <p:nvPr/>
            </p:nvSpPr>
            <p:spPr>
              <a:xfrm>
                <a:off x="889000" y="1587500"/>
                <a:ext cx="1148080" cy="1127759"/>
              </a:xfrm>
              <a:prstGeom prst="fram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a:extLst>
                  <a:ext uri="{FF2B5EF4-FFF2-40B4-BE49-F238E27FC236}">
                    <a16:creationId xmlns:a16="http://schemas.microsoft.com/office/drawing/2014/main" id="{5310968C-8AA7-F62A-D01B-AB41A5E16813}"/>
                  </a:ext>
                </a:extLst>
              </p:cNvPr>
              <p:cNvSpPr/>
              <p:nvPr/>
            </p:nvSpPr>
            <p:spPr>
              <a:xfrm>
                <a:off x="731520" y="1351280"/>
                <a:ext cx="670560" cy="1127759"/>
              </a:xfrm>
              <a:prstGeom prst="fram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6" name="Rectangle 5">
              <a:extLst>
                <a:ext uri="{FF2B5EF4-FFF2-40B4-BE49-F238E27FC236}">
                  <a16:creationId xmlns:a16="http://schemas.microsoft.com/office/drawing/2014/main" id="{74072CD1-D112-0A4F-E53B-51DC05BA17D2}"/>
                </a:ext>
              </a:extLst>
            </p:cNvPr>
            <p:cNvSpPr/>
            <p:nvPr/>
          </p:nvSpPr>
          <p:spPr>
            <a:xfrm>
              <a:off x="0" y="3606802"/>
              <a:ext cx="11506200" cy="3251198"/>
            </a:xfrm>
            <a:prstGeom prst="rect">
              <a:avLst/>
            </a:prstGeom>
            <a:solidFill>
              <a:schemeClr val="accent2">
                <a:lumMod val="20000"/>
                <a:lumOff val="80000"/>
                <a:alpha val="45000"/>
              </a:schemeClr>
            </a:solidFill>
            <a:ln>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28FA876-2790-9660-3BAE-3C401FCF6423}"/>
                </a:ext>
              </a:extLst>
            </p:cNvPr>
            <p:cNvCxnSpPr/>
            <p:nvPr/>
          </p:nvCxnSpPr>
          <p:spPr>
            <a:xfrm>
              <a:off x="0" y="3602038"/>
              <a:ext cx="10104120" cy="0"/>
            </a:xfrm>
            <a:prstGeom prst="line">
              <a:avLst/>
            </a:prstGeom>
            <a:ln w="2540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2FFF688-A1C4-0165-9244-278B075E2E80}"/>
                </a:ext>
              </a:extLst>
            </p:cNvPr>
            <p:cNvCxnSpPr/>
            <p:nvPr/>
          </p:nvCxnSpPr>
          <p:spPr>
            <a:xfrm>
              <a:off x="167640" y="3509963"/>
              <a:ext cx="10104120" cy="0"/>
            </a:xfrm>
            <a:prstGeom prst="line">
              <a:avLst/>
            </a:prstGeom>
            <a:ln w="254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B8757DF-8191-60A2-AE71-C82EF2C01F2F}"/>
                </a:ext>
              </a:extLst>
            </p:cNvPr>
            <p:cNvCxnSpPr/>
            <p:nvPr/>
          </p:nvCxnSpPr>
          <p:spPr>
            <a:xfrm>
              <a:off x="370840" y="3556318"/>
              <a:ext cx="10104120" cy="0"/>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AB3E6BD1-5507-EF73-D23A-A012F54FF1C6}"/>
              </a:ext>
            </a:extLst>
          </p:cNvPr>
          <p:cNvSpPr>
            <a:spLocks noGrp="1"/>
          </p:cNvSpPr>
          <p:nvPr>
            <p:ph type="title"/>
          </p:nvPr>
        </p:nvSpPr>
        <p:spPr/>
        <p:txBody>
          <a:bodyPr/>
          <a:lstStyle/>
          <a:p>
            <a:r>
              <a:rPr lang="en-US" dirty="0">
                <a:effectLst>
                  <a:reflection blurRad="12700" stA="20000" endPos="30000" dist="12700" dir="5400000" sy="-100000" algn="bl" rotWithShape="0"/>
                </a:effectLst>
                <a:latin typeface="Avenir Next LT Pro Light" panose="020B0304020202020204" pitchFamily="34" charset="0"/>
              </a:rPr>
              <a:t>When should you use a Waterfall or Agile Approach?</a:t>
            </a:r>
          </a:p>
        </p:txBody>
      </p:sp>
      <p:sp>
        <p:nvSpPr>
          <p:cNvPr id="3" name="Content Placeholder 2">
            <a:extLst>
              <a:ext uri="{FF2B5EF4-FFF2-40B4-BE49-F238E27FC236}">
                <a16:creationId xmlns:a16="http://schemas.microsoft.com/office/drawing/2014/main" id="{519336C5-47C9-50FD-D01C-67E76B1F9425}"/>
              </a:ext>
            </a:extLst>
          </p:cNvPr>
          <p:cNvSpPr>
            <a:spLocks noGrp="1"/>
          </p:cNvSpPr>
          <p:nvPr>
            <p:ph idx="1"/>
          </p:nvPr>
        </p:nvSpPr>
        <p:spPr/>
        <p:txBody>
          <a:bodyPr>
            <a:normAutofit lnSpcReduction="10000"/>
          </a:bodyPr>
          <a:lstStyle/>
          <a:p>
            <a:pPr marL="0" indent="0">
              <a:buNone/>
            </a:pPr>
            <a:r>
              <a:rPr lang="en-US" b="1" dirty="0">
                <a:latin typeface="Agency FB" panose="020B0503020202020204" pitchFamily="34" charset="0"/>
              </a:rPr>
              <a:t>Agile</a:t>
            </a:r>
          </a:p>
          <a:p>
            <a:r>
              <a:rPr lang="en-US" dirty="0">
                <a:latin typeface="Avenir Next LT Pro Light" panose="020B0304020202020204" pitchFamily="34" charset="0"/>
              </a:rPr>
              <a:t>This process is for projects that are constantly changing based on trends and customer needs/wants.</a:t>
            </a:r>
          </a:p>
          <a:p>
            <a:r>
              <a:rPr lang="en-US" dirty="0">
                <a:latin typeface="Avenir Next LT Pro Light" panose="020B0304020202020204" pitchFamily="34" charset="0"/>
              </a:rPr>
              <a:t>Has planning but not a whole lot of documentations as the focus is on delivering working parts of the project.</a:t>
            </a:r>
          </a:p>
          <a:p>
            <a:r>
              <a:rPr lang="en-US" dirty="0">
                <a:latin typeface="Avenir Next LT Pro Light" panose="020B0304020202020204" pitchFamily="34" charset="0"/>
              </a:rPr>
              <a:t>Follows a cycle-by-cycle process which allows the project to be broken down and improve incrementally.</a:t>
            </a:r>
          </a:p>
          <a:p>
            <a:r>
              <a:rPr lang="en-US" dirty="0">
                <a:latin typeface="Avenir Next LT Pro Light" panose="020B0304020202020204" pitchFamily="34" charset="0"/>
              </a:rPr>
              <a:t>Stakeholders/customers are involved throughout the project providing constant feedback which is best for projects that are always looking at trends.</a:t>
            </a:r>
          </a:p>
        </p:txBody>
      </p:sp>
      <p:grpSp>
        <p:nvGrpSpPr>
          <p:cNvPr id="15" name="Group 14">
            <a:extLst>
              <a:ext uri="{FF2B5EF4-FFF2-40B4-BE49-F238E27FC236}">
                <a16:creationId xmlns:a16="http://schemas.microsoft.com/office/drawing/2014/main" id="{100F35A1-7889-7CB8-C16C-4B105EF9CE6F}"/>
              </a:ext>
            </a:extLst>
          </p:cNvPr>
          <p:cNvGrpSpPr/>
          <p:nvPr/>
        </p:nvGrpSpPr>
        <p:grpSpPr>
          <a:xfrm>
            <a:off x="0" y="1666081"/>
            <a:ext cx="10474960" cy="92075"/>
            <a:chOff x="0" y="3509963"/>
            <a:chExt cx="10474960" cy="92075"/>
          </a:xfrm>
        </p:grpSpPr>
        <p:cxnSp>
          <p:nvCxnSpPr>
            <p:cNvPr id="16" name="Straight Connector 15">
              <a:extLst>
                <a:ext uri="{FF2B5EF4-FFF2-40B4-BE49-F238E27FC236}">
                  <a16:creationId xmlns:a16="http://schemas.microsoft.com/office/drawing/2014/main" id="{7CD02B41-8419-BFCD-26E9-173C361E1D80}"/>
                </a:ext>
              </a:extLst>
            </p:cNvPr>
            <p:cNvCxnSpPr/>
            <p:nvPr/>
          </p:nvCxnSpPr>
          <p:spPr>
            <a:xfrm>
              <a:off x="0" y="3602038"/>
              <a:ext cx="10104120" cy="0"/>
            </a:xfrm>
            <a:prstGeom prst="line">
              <a:avLst/>
            </a:prstGeom>
            <a:ln w="2540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A704DB2-BBF1-1EB1-E1AE-026E4D7E3458}"/>
                </a:ext>
              </a:extLst>
            </p:cNvPr>
            <p:cNvCxnSpPr/>
            <p:nvPr/>
          </p:nvCxnSpPr>
          <p:spPr>
            <a:xfrm>
              <a:off x="167640" y="3509963"/>
              <a:ext cx="10104120" cy="0"/>
            </a:xfrm>
            <a:prstGeom prst="line">
              <a:avLst/>
            </a:prstGeom>
            <a:ln w="254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8A277B2-D6BE-FCA5-6898-F4E901902785}"/>
                </a:ext>
              </a:extLst>
            </p:cNvPr>
            <p:cNvCxnSpPr/>
            <p:nvPr/>
          </p:nvCxnSpPr>
          <p:spPr>
            <a:xfrm>
              <a:off x="370840" y="3556318"/>
              <a:ext cx="10104120" cy="0"/>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19" name="TextBox 18">
            <a:extLst>
              <a:ext uri="{FF2B5EF4-FFF2-40B4-BE49-F238E27FC236}">
                <a16:creationId xmlns:a16="http://schemas.microsoft.com/office/drawing/2014/main" id="{A6C820EE-6B7A-3C3D-6F41-C9019778B1EB}"/>
              </a:ext>
            </a:extLst>
          </p:cNvPr>
          <p:cNvSpPr txBox="1"/>
          <p:nvPr/>
        </p:nvSpPr>
        <p:spPr>
          <a:xfrm>
            <a:off x="167640" y="6388751"/>
            <a:ext cx="609600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(Adobe Communications Team, 2025)</a:t>
            </a:r>
          </a:p>
        </p:txBody>
      </p:sp>
    </p:spTree>
    <p:extLst>
      <p:ext uri="{BB962C8B-B14F-4D97-AF65-F5344CB8AC3E}">
        <p14:creationId xmlns:p14="http://schemas.microsoft.com/office/powerpoint/2010/main" val="31174752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0703C7F6-1659-41E7-9BEF-CA22B388BE40}"/>
              </a:ext>
            </a:extLst>
          </p:cNvPr>
          <p:cNvGrpSpPr/>
          <p:nvPr/>
        </p:nvGrpSpPr>
        <p:grpSpPr>
          <a:xfrm rot="16200000">
            <a:off x="6568440" y="1234440"/>
            <a:ext cx="6858000" cy="4389120"/>
            <a:chOff x="0" y="2468880"/>
            <a:chExt cx="11506200" cy="4389120"/>
          </a:xfrm>
        </p:grpSpPr>
        <p:grpSp>
          <p:nvGrpSpPr>
            <p:cNvPr id="5" name="Group 4">
              <a:extLst>
                <a:ext uri="{FF2B5EF4-FFF2-40B4-BE49-F238E27FC236}">
                  <a16:creationId xmlns:a16="http://schemas.microsoft.com/office/drawing/2014/main" id="{8C6F73BF-D0FE-D0E4-7B9F-7567678DBB60}"/>
                </a:ext>
              </a:extLst>
            </p:cNvPr>
            <p:cNvGrpSpPr/>
            <p:nvPr/>
          </p:nvGrpSpPr>
          <p:grpSpPr>
            <a:xfrm>
              <a:off x="0" y="2468880"/>
              <a:ext cx="10474960" cy="2479039"/>
              <a:chOff x="213360" y="556576"/>
              <a:chExt cx="2458720" cy="2158683"/>
            </a:xfrm>
          </p:grpSpPr>
          <p:sp>
            <p:nvSpPr>
              <p:cNvPr id="10" name="Frame 9">
                <a:extLst>
                  <a:ext uri="{FF2B5EF4-FFF2-40B4-BE49-F238E27FC236}">
                    <a16:creationId xmlns:a16="http://schemas.microsoft.com/office/drawing/2014/main" id="{8F47E7C9-D0DB-B75D-5DE4-485EE3492D62}"/>
                  </a:ext>
                </a:extLst>
              </p:cNvPr>
              <p:cNvSpPr/>
              <p:nvPr/>
            </p:nvSpPr>
            <p:spPr>
              <a:xfrm>
                <a:off x="2286000" y="1796093"/>
                <a:ext cx="386080" cy="406399"/>
              </a:xfrm>
              <a:prstGeom prst="frame">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Frame 10">
                <a:extLst>
                  <a:ext uri="{FF2B5EF4-FFF2-40B4-BE49-F238E27FC236}">
                    <a16:creationId xmlns:a16="http://schemas.microsoft.com/office/drawing/2014/main" id="{4674FABF-C85B-6BFF-7F1E-5A95784545C6}"/>
                  </a:ext>
                </a:extLst>
              </p:cNvPr>
              <p:cNvSpPr/>
              <p:nvPr/>
            </p:nvSpPr>
            <p:spPr>
              <a:xfrm>
                <a:off x="1935480" y="2035882"/>
                <a:ext cx="518160" cy="425294"/>
              </a:xfrm>
              <a:prstGeom prst="frame">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a:extLst>
                  <a:ext uri="{FF2B5EF4-FFF2-40B4-BE49-F238E27FC236}">
                    <a16:creationId xmlns:a16="http://schemas.microsoft.com/office/drawing/2014/main" id="{8EBBAD72-A94C-0FB8-A221-98BC54DB2FF6}"/>
                  </a:ext>
                </a:extLst>
              </p:cNvPr>
              <p:cNvSpPr/>
              <p:nvPr/>
            </p:nvSpPr>
            <p:spPr>
              <a:xfrm>
                <a:off x="213360" y="556576"/>
                <a:ext cx="1489302" cy="1645916"/>
              </a:xfrm>
              <a:prstGeom prst="fram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Frame 12">
                <a:extLst>
                  <a:ext uri="{FF2B5EF4-FFF2-40B4-BE49-F238E27FC236}">
                    <a16:creationId xmlns:a16="http://schemas.microsoft.com/office/drawing/2014/main" id="{F6527CD4-BA85-78A6-B8EC-59094394948E}"/>
                  </a:ext>
                </a:extLst>
              </p:cNvPr>
              <p:cNvSpPr/>
              <p:nvPr/>
            </p:nvSpPr>
            <p:spPr>
              <a:xfrm>
                <a:off x="889000" y="1587500"/>
                <a:ext cx="1148080" cy="1127759"/>
              </a:xfrm>
              <a:prstGeom prst="fram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a:extLst>
                  <a:ext uri="{FF2B5EF4-FFF2-40B4-BE49-F238E27FC236}">
                    <a16:creationId xmlns:a16="http://schemas.microsoft.com/office/drawing/2014/main" id="{A3C9DF13-CD51-581F-1E2D-D5E3F7440D24}"/>
                  </a:ext>
                </a:extLst>
              </p:cNvPr>
              <p:cNvSpPr/>
              <p:nvPr/>
            </p:nvSpPr>
            <p:spPr>
              <a:xfrm>
                <a:off x="731520" y="1351280"/>
                <a:ext cx="670560" cy="1127759"/>
              </a:xfrm>
              <a:prstGeom prst="fram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6" name="Rectangle 5">
              <a:extLst>
                <a:ext uri="{FF2B5EF4-FFF2-40B4-BE49-F238E27FC236}">
                  <a16:creationId xmlns:a16="http://schemas.microsoft.com/office/drawing/2014/main" id="{E8447319-AA4D-A219-802C-70463CFBB839}"/>
                </a:ext>
              </a:extLst>
            </p:cNvPr>
            <p:cNvSpPr/>
            <p:nvPr/>
          </p:nvSpPr>
          <p:spPr>
            <a:xfrm>
              <a:off x="0" y="3606802"/>
              <a:ext cx="11506200" cy="3251198"/>
            </a:xfrm>
            <a:prstGeom prst="rect">
              <a:avLst/>
            </a:prstGeom>
            <a:solidFill>
              <a:schemeClr val="accent2">
                <a:lumMod val="20000"/>
                <a:lumOff val="80000"/>
                <a:alpha val="45000"/>
              </a:schemeClr>
            </a:solidFill>
            <a:ln>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F96D1A9-1235-A480-0635-3C39A280DB65}"/>
                </a:ext>
              </a:extLst>
            </p:cNvPr>
            <p:cNvCxnSpPr/>
            <p:nvPr/>
          </p:nvCxnSpPr>
          <p:spPr>
            <a:xfrm>
              <a:off x="0" y="3602038"/>
              <a:ext cx="10104120" cy="0"/>
            </a:xfrm>
            <a:prstGeom prst="line">
              <a:avLst/>
            </a:prstGeom>
            <a:ln w="2540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132A4EA-5EFD-D7EB-DA6A-698F9082A9F6}"/>
                </a:ext>
              </a:extLst>
            </p:cNvPr>
            <p:cNvCxnSpPr/>
            <p:nvPr/>
          </p:nvCxnSpPr>
          <p:spPr>
            <a:xfrm>
              <a:off x="167640" y="3509963"/>
              <a:ext cx="10104120" cy="0"/>
            </a:xfrm>
            <a:prstGeom prst="line">
              <a:avLst/>
            </a:prstGeom>
            <a:ln w="254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BB00409-A3AF-45EE-44CB-86243F757B48}"/>
                </a:ext>
              </a:extLst>
            </p:cNvPr>
            <p:cNvCxnSpPr/>
            <p:nvPr/>
          </p:nvCxnSpPr>
          <p:spPr>
            <a:xfrm>
              <a:off x="370840" y="3556318"/>
              <a:ext cx="10104120" cy="0"/>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1912FC31-528A-19D8-8EA0-EC776E7527BA}"/>
              </a:ext>
            </a:extLst>
          </p:cNvPr>
          <p:cNvSpPr>
            <a:spLocks noGrp="1"/>
          </p:cNvSpPr>
          <p:nvPr>
            <p:ph type="title"/>
          </p:nvPr>
        </p:nvSpPr>
        <p:spPr/>
        <p:txBody>
          <a:bodyPr/>
          <a:lstStyle/>
          <a:p>
            <a:r>
              <a:rPr lang="en-US" dirty="0">
                <a:effectLst>
                  <a:reflection blurRad="12700" stA="20000" endPos="30000" dist="12700" dir="5400000" sy="-100000" algn="bl" rotWithShape="0"/>
                </a:effectLst>
                <a:latin typeface="Avenir Next LT Pro Light" panose="020B0304020202020204" pitchFamily="34" charset="0"/>
              </a:rPr>
              <a:t>When should you use a Waterfall or Agile Approach?</a:t>
            </a:r>
          </a:p>
        </p:txBody>
      </p:sp>
      <p:sp>
        <p:nvSpPr>
          <p:cNvPr id="3" name="Content Placeholder 2">
            <a:extLst>
              <a:ext uri="{FF2B5EF4-FFF2-40B4-BE49-F238E27FC236}">
                <a16:creationId xmlns:a16="http://schemas.microsoft.com/office/drawing/2014/main" id="{62B89679-3061-516F-DAFB-D177050F98C4}"/>
              </a:ext>
            </a:extLst>
          </p:cNvPr>
          <p:cNvSpPr>
            <a:spLocks noGrp="1"/>
          </p:cNvSpPr>
          <p:nvPr>
            <p:ph idx="1"/>
          </p:nvPr>
        </p:nvSpPr>
        <p:spPr/>
        <p:txBody>
          <a:bodyPr>
            <a:normAutofit fontScale="92500" lnSpcReduction="10000"/>
          </a:bodyPr>
          <a:lstStyle/>
          <a:p>
            <a:pPr marL="0" indent="0">
              <a:buNone/>
            </a:pPr>
            <a:r>
              <a:rPr lang="en-US" b="1" dirty="0">
                <a:latin typeface="Agency FB" panose="020B0503020202020204" pitchFamily="34" charset="0"/>
              </a:rPr>
              <a:t>Agile Continued</a:t>
            </a:r>
          </a:p>
          <a:p>
            <a:r>
              <a:rPr lang="en-US" dirty="0">
                <a:latin typeface="Avenir Next LT Pro Light" panose="020B0304020202020204" pitchFamily="34" charset="0"/>
              </a:rPr>
              <a:t>Making changes is easy to do and this process welcomes new ideas which can then be implemented throughout the project.</a:t>
            </a:r>
          </a:p>
          <a:p>
            <a:r>
              <a:rPr lang="en-US" dirty="0">
                <a:latin typeface="Avenir Next LT Pro Light" panose="020B0304020202020204" pitchFamily="34" charset="0"/>
              </a:rPr>
              <a:t>Problems are resolved in smaller steps, allowing the project to adapt quickly to these issues.</a:t>
            </a:r>
          </a:p>
          <a:p>
            <a:r>
              <a:rPr lang="en-US" dirty="0">
                <a:latin typeface="Avenir Next LT Pro Light" panose="020B0304020202020204" pitchFamily="34" charset="0"/>
              </a:rPr>
              <a:t>The time frame and delivery of the project is estimated at the beginning, but the timeline can be adjusted at any point as you get many working parts rather than one big release at the very end.</a:t>
            </a:r>
          </a:p>
          <a:p>
            <a:r>
              <a:rPr lang="en-US" dirty="0">
                <a:latin typeface="Avenir Next LT Pro Light" panose="020B0304020202020204" pitchFamily="34" charset="0"/>
              </a:rPr>
              <a:t>Best for when you want teams to work together closely and have people with diverse skill sets that communicate daily with one another.</a:t>
            </a:r>
          </a:p>
        </p:txBody>
      </p:sp>
      <p:grpSp>
        <p:nvGrpSpPr>
          <p:cNvPr id="15" name="Group 14">
            <a:extLst>
              <a:ext uri="{FF2B5EF4-FFF2-40B4-BE49-F238E27FC236}">
                <a16:creationId xmlns:a16="http://schemas.microsoft.com/office/drawing/2014/main" id="{C85B0307-D431-C0E2-CDC3-349A7CEB8982}"/>
              </a:ext>
            </a:extLst>
          </p:cNvPr>
          <p:cNvGrpSpPr/>
          <p:nvPr/>
        </p:nvGrpSpPr>
        <p:grpSpPr>
          <a:xfrm>
            <a:off x="0" y="1666081"/>
            <a:ext cx="10474960" cy="92075"/>
            <a:chOff x="0" y="3509963"/>
            <a:chExt cx="10474960" cy="92075"/>
          </a:xfrm>
        </p:grpSpPr>
        <p:cxnSp>
          <p:nvCxnSpPr>
            <p:cNvPr id="16" name="Straight Connector 15">
              <a:extLst>
                <a:ext uri="{FF2B5EF4-FFF2-40B4-BE49-F238E27FC236}">
                  <a16:creationId xmlns:a16="http://schemas.microsoft.com/office/drawing/2014/main" id="{7C7AD5B5-9E26-19FB-AFAC-54DF0E7AD60A}"/>
                </a:ext>
              </a:extLst>
            </p:cNvPr>
            <p:cNvCxnSpPr/>
            <p:nvPr/>
          </p:nvCxnSpPr>
          <p:spPr>
            <a:xfrm>
              <a:off x="0" y="3602038"/>
              <a:ext cx="10104120" cy="0"/>
            </a:xfrm>
            <a:prstGeom prst="line">
              <a:avLst/>
            </a:prstGeom>
            <a:ln w="2540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B46BB39-8FA7-519F-A972-15DB59607227}"/>
                </a:ext>
              </a:extLst>
            </p:cNvPr>
            <p:cNvCxnSpPr/>
            <p:nvPr/>
          </p:nvCxnSpPr>
          <p:spPr>
            <a:xfrm>
              <a:off x="167640" y="3509963"/>
              <a:ext cx="10104120" cy="0"/>
            </a:xfrm>
            <a:prstGeom prst="line">
              <a:avLst/>
            </a:prstGeom>
            <a:ln w="254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E967EAA-54E7-3343-0BBE-B8EF256337EE}"/>
                </a:ext>
              </a:extLst>
            </p:cNvPr>
            <p:cNvCxnSpPr/>
            <p:nvPr/>
          </p:nvCxnSpPr>
          <p:spPr>
            <a:xfrm>
              <a:off x="370840" y="3556318"/>
              <a:ext cx="10104120" cy="0"/>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19" name="TextBox 18">
            <a:extLst>
              <a:ext uri="{FF2B5EF4-FFF2-40B4-BE49-F238E27FC236}">
                <a16:creationId xmlns:a16="http://schemas.microsoft.com/office/drawing/2014/main" id="{877850DB-E2D5-D23F-12EE-71B27E2955FB}"/>
              </a:ext>
            </a:extLst>
          </p:cNvPr>
          <p:cNvSpPr txBox="1"/>
          <p:nvPr/>
        </p:nvSpPr>
        <p:spPr>
          <a:xfrm>
            <a:off x="167640" y="6388751"/>
            <a:ext cx="609600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(Adobe Communications Team, 2025)</a:t>
            </a:r>
          </a:p>
        </p:txBody>
      </p:sp>
    </p:spTree>
    <p:extLst>
      <p:ext uri="{BB962C8B-B14F-4D97-AF65-F5344CB8AC3E}">
        <p14:creationId xmlns:p14="http://schemas.microsoft.com/office/powerpoint/2010/main" val="39945847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AB68144F-1632-8C4B-B39A-E9CAD739BD86}"/>
              </a:ext>
            </a:extLst>
          </p:cNvPr>
          <p:cNvGrpSpPr/>
          <p:nvPr/>
        </p:nvGrpSpPr>
        <p:grpSpPr>
          <a:xfrm rot="16200000">
            <a:off x="6568440" y="1234440"/>
            <a:ext cx="6858000" cy="4389120"/>
            <a:chOff x="0" y="2468880"/>
            <a:chExt cx="11506200" cy="4389120"/>
          </a:xfrm>
        </p:grpSpPr>
        <p:grpSp>
          <p:nvGrpSpPr>
            <p:cNvPr id="5" name="Group 4">
              <a:extLst>
                <a:ext uri="{FF2B5EF4-FFF2-40B4-BE49-F238E27FC236}">
                  <a16:creationId xmlns:a16="http://schemas.microsoft.com/office/drawing/2014/main" id="{316E0727-E176-8ED9-A358-252CCA83C12E}"/>
                </a:ext>
              </a:extLst>
            </p:cNvPr>
            <p:cNvGrpSpPr/>
            <p:nvPr/>
          </p:nvGrpSpPr>
          <p:grpSpPr>
            <a:xfrm>
              <a:off x="0" y="2468880"/>
              <a:ext cx="10474960" cy="2479039"/>
              <a:chOff x="213360" y="556576"/>
              <a:chExt cx="2458720" cy="2158683"/>
            </a:xfrm>
          </p:grpSpPr>
          <p:sp>
            <p:nvSpPr>
              <p:cNvPr id="10" name="Frame 9">
                <a:extLst>
                  <a:ext uri="{FF2B5EF4-FFF2-40B4-BE49-F238E27FC236}">
                    <a16:creationId xmlns:a16="http://schemas.microsoft.com/office/drawing/2014/main" id="{26BEFACB-5097-A84F-D42F-EC5932B27858}"/>
                  </a:ext>
                </a:extLst>
              </p:cNvPr>
              <p:cNvSpPr/>
              <p:nvPr/>
            </p:nvSpPr>
            <p:spPr>
              <a:xfrm>
                <a:off x="2286000" y="1796093"/>
                <a:ext cx="386080" cy="406399"/>
              </a:xfrm>
              <a:prstGeom prst="frame">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Frame 10">
                <a:extLst>
                  <a:ext uri="{FF2B5EF4-FFF2-40B4-BE49-F238E27FC236}">
                    <a16:creationId xmlns:a16="http://schemas.microsoft.com/office/drawing/2014/main" id="{3641CEFB-4EB9-7A00-770D-9BB1C1FFBDB8}"/>
                  </a:ext>
                </a:extLst>
              </p:cNvPr>
              <p:cNvSpPr/>
              <p:nvPr/>
            </p:nvSpPr>
            <p:spPr>
              <a:xfrm>
                <a:off x="1935480" y="2035882"/>
                <a:ext cx="518160" cy="425294"/>
              </a:xfrm>
              <a:prstGeom prst="frame">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a:extLst>
                  <a:ext uri="{FF2B5EF4-FFF2-40B4-BE49-F238E27FC236}">
                    <a16:creationId xmlns:a16="http://schemas.microsoft.com/office/drawing/2014/main" id="{B12B5427-7936-3014-5BBD-49561CB1A118}"/>
                  </a:ext>
                </a:extLst>
              </p:cNvPr>
              <p:cNvSpPr/>
              <p:nvPr/>
            </p:nvSpPr>
            <p:spPr>
              <a:xfrm>
                <a:off x="213360" y="556576"/>
                <a:ext cx="1489302" cy="1645916"/>
              </a:xfrm>
              <a:prstGeom prst="fram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Frame 12">
                <a:extLst>
                  <a:ext uri="{FF2B5EF4-FFF2-40B4-BE49-F238E27FC236}">
                    <a16:creationId xmlns:a16="http://schemas.microsoft.com/office/drawing/2014/main" id="{AD2C2C1F-33C4-3F89-765A-D46F893DDB15}"/>
                  </a:ext>
                </a:extLst>
              </p:cNvPr>
              <p:cNvSpPr/>
              <p:nvPr/>
            </p:nvSpPr>
            <p:spPr>
              <a:xfrm>
                <a:off x="889000" y="1587500"/>
                <a:ext cx="1148080" cy="1127759"/>
              </a:xfrm>
              <a:prstGeom prst="fram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a:extLst>
                  <a:ext uri="{FF2B5EF4-FFF2-40B4-BE49-F238E27FC236}">
                    <a16:creationId xmlns:a16="http://schemas.microsoft.com/office/drawing/2014/main" id="{30D8AF3F-FE4E-D845-AE1A-6B455E362F91}"/>
                  </a:ext>
                </a:extLst>
              </p:cNvPr>
              <p:cNvSpPr/>
              <p:nvPr/>
            </p:nvSpPr>
            <p:spPr>
              <a:xfrm>
                <a:off x="731520" y="1351280"/>
                <a:ext cx="670560" cy="1127759"/>
              </a:xfrm>
              <a:prstGeom prst="fram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6" name="Rectangle 5">
              <a:extLst>
                <a:ext uri="{FF2B5EF4-FFF2-40B4-BE49-F238E27FC236}">
                  <a16:creationId xmlns:a16="http://schemas.microsoft.com/office/drawing/2014/main" id="{6293C38D-55BE-D314-4191-6C2DE584FFB0}"/>
                </a:ext>
              </a:extLst>
            </p:cNvPr>
            <p:cNvSpPr/>
            <p:nvPr/>
          </p:nvSpPr>
          <p:spPr>
            <a:xfrm>
              <a:off x="0" y="3606802"/>
              <a:ext cx="11506200" cy="3251198"/>
            </a:xfrm>
            <a:prstGeom prst="rect">
              <a:avLst/>
            </a:prstGeom>
            <a:solidFill>
              <a:schemeClr val="accent2">
                <a:lumMod val="20000"/>
                <a:lumOff val="80000"/>
                <a:alpha val="45000"/>
              </a:schemeClr>
            </a:solidFill>
            <a:ln>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CA002854-3D95-4CB2-DC7F-9758CAF35D32}"/>
                </a:ext>
              </a:extLst>
            </p:cNvPr>
            <p:cNvCxnSpPr/>
            <p:nvPr/>
          </p:nvCxnSpPr>
          <p:spPr>
            <a:xfrm>
              <a:off x="0" y="3602038"/>
              <a:ext cx="10104120" cy="0"/>
            </a:xfrm>
            <a:prstGeom prst="line">
              <a:avLst/>
            </a:prstGeom>
            <a:ln w="2540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5C19298A-7201-FB5A-3ECF-67DD5C7FCB94}"/>
                </a:ext>
              </a:extLst>
            </p:cNvPr>
            <p:cNvCxnSpPr/>
            <p:nvPr/>
          </p:nvCxnSpPr>
          <p:spPr>
            <a:xfrm>
              <a:off x="167640" y="3509963"/>
              <a:ext cx="10104120" cy="0"/>
            </a:xfrm>
            <a:prstGeom prst="line">
              <a:avLst/>
            </a:prstGeom>
            <a:ln w="254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A9FE4C4-76A7-42CA-327A-BDC07A7CB773}"/>
                </a:ext>
              </a:extLst>
            </p:cNvPr>
            <p:cNvCxnSpPr/>
            <p:nvPr/>
          </p:nvCxnSpPr>
          <p:spPr>
            <a:xfrm>
              <a:off x="370840" y="3556318"/>
              <a:ext cx="10104120" cy="0"/>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566BAF68-E0A4-9DCE-5E0D-AE0F9CF83404}"/>
              </a:ext>
            </a:extLst>
          </p:cNvPr>
          <p:cNvSpPr>
            <a:spLocks noGrp="1"/>
          </p:cNvSpPr>
          <p:nvPr>
            <p:ph type="title"/>
          </p:nvPr>
        </p:nvSpPr>
        <p:spPr/>
        <p:txBody>
          <a:bodyPr/>
          <a:lstStyle/>
          <a:p>
            <a:r>
              <a:rPr lang="en-US" dirty="0">
                <a:effectLst>
                  <a:reflection blurRad="12700" stA="20000" endPos="30000" dist="12700" dir="5400000" sy="-100000" algn="bl" rotWithShape="0"/>
                </a:effectLst>
                <a:latin typeface="Avenir Next LT Pro Light" panose="020B0304020202020204" pitchFamily="34" charset="0"/>
              </a:rPr>
              <a:t>When should you use a Waterfall or Agile Approach?</a:t>
            </a:r>
          </a:p>
        </p:txBody>
      </p:sp>
      <p:sp>
        <p:nvSpPr>
          <p:cNvPr id="3" name="Content Placeholder 2">
            <a:extLst>
              <a:ext uri="{FF2B5EF4-FFF2-40B4-BE49-F238E27FC236}">
                <a16:creationId xmlns:a16="http://schemas.microsoft.com/office/drawing/2014/main" id="{BE090152-120C-D513-AC2E-82C03854271C}"/>
              </a:ext>
            </a:extLst>
          </p:cNvPr>
          <p:cNvSpPr>
            <a:spLocks noGrp="1"/>
          </p:cNvSpPr>
          <p:nvPr>
            <p:ph idx="1"/>
          </p:nvPr>
        </p:nvSpPr>
        <p:spPr/>
        <p:txBody>
          <a:bodyPr/>
          <a:lstStyle/>
          <a:p>
            <a:pPr marL="0" indent="0">
              <a:buNone/>
            </a:pPr>
            <a:r>
              <a:rPr lang="en-US" b="1" dirty="0">
                <a:latin typeface="Agency FB" panose="020B0503020202020204" pitchFamily="34" charset="0"/>
              </a:rPr>
              <a:t>SNHU Travel Project and why Agile was the best choice.</a:t>
            </a:r>
          </a:p>
          <a:p>
            <a:r>
              <a:rPr lang="en-US" dirty="0">
                <a:latin typeface="Avenir Next LT Pro Light" panose="020B0304020202020204" pitchFamily="34" charset="0"/>
              </a:rPr>
              <a:t>Throughout this project, changes were made to fit with customer needs that were changing based on trends going on with travel.</a:t>
            </a:r>
          </a:p>
          <a:p>
            <a:r>
              <a:rPr lang="en-US" dirty="0">
                <a:latin typeface="Avenir Next LT Pro Light" panose="020B0304020202020204" pitchFamily="34" charset="0"/>
              </a:rPr>
              <a:t>The team communicated daily through meetings and shared information on how the tasks were moving along.</a:t>
            </a:r>
          </a:p>
          <a:p>
            <a:r>
              <a:rPr lang="en-US" dirty="0">
                <a:latin typeface="Avenir Next LT Pro Light" panose="020B0304020202020204" pitchFamily="34" charset="0"/>
              </a:rPr>
              <a:t>Throughout the project, the team was able to deliver working parts of the application to showcase to stakeholders/customers and the team.</a:t>
            </a:r>
          </a:p>
        </p:txBody>
      </p:sp>
      <p:grpSp>
        <p:nvGrpSpPr>
          <p:cNvPr id="15" name="Group 14">
            <a:extLst>
              <a:ext uri="{FF2B5EF4-FFF2-40B4-BE49-F238E27FC236}">
                <a16:creationId xmlns:a16="http://schemas.microsoft.com/office/drawing/2014/main" id="{6B6BF97C-8656-FE06-E0B2-21C8FC3AB3CF}"/>
              </a:ext>
            </a:extLst>
          </p:cNvPr>
          <p:cNvGrpSpPr/>
          <p:nvPr/>
        </p:nvGrpSpPr>
        <p:grpSpPr>
          <a:xfrm>
            <a:off x="0" y="1666081"/>
            <a:ext cx="10474960" cy="92075"/>
            <a:chOff x="0" y="3509963"/>
            <a:chExt cx="10474960" cy="92075"/>
          </a:xfrm>
        </p:grpSpPr>
        <p:cxnSp>
          <p:nvCxnSpPr>
            <p:cNvPr id="16" name="Straight Connector 15">
              <a:extLst>
                <a:ext uri="{FF2B5EF4-FFF2-40B4-BE49-F238E27FC236}">
                  <a16:creationId xmlns:a16="http://schemas.microsoft.com/office/drawing/2014/main" id="{F3A2D19F-1524-57E9-54DC-13CC6C57DD8F}"/>
                </a:ext>
              </a:extLst>
            </p:cNvPr>
            <p:cNvCxnSpPr/>
            <p:nvPr/>
          </p:nvCxnSpPr>
          <p:spPr>
            <a:xfrm>
              <a:off x="0" y="3602038"/>
              <a:ext cx="10104120" cy="0"/>
            </a:xfrm>
            <a:prstGeom prst="line">
              <a:avLst/>
            </a:prstGeom>
            <a:ln w="2540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3CE171A-3A53-EC5B-C676-2D8372619E94}"/>
                </a:ext>
              </a:extLst>
            </p:cNvPr>
            <p:cNvCxnSpPr/>
            <p:nvPr/>
          </p:nvCxnSpPr>
          <p:spPr>
            <a:xfrm>
              <a:off x="167640" y="3509963"/>
              <a:ext cx="10104120" cy="0"/>
            </a:xfrm>
            <a:prstGeom prst="line">
              <a:avLst/>
            </a:prstGeom>
            <a:ln w="254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A7F791B-FDFA-0CCE-4251-E69961E8742D}"/>
                </a:ext>
              </a:extLst>
            </p:cNvPr>
            <p:cNvCxnSpPr/>
            <p:nvPr/>
          </p:nvCxnSpPr>
          <p:spPr>
            <a:xfrm>
              <a:off x="370840" y="3556318"/>
              <a:ext cx="10104120" cy="0"/>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236137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pattFill prst="pct5">
          <a:fgClr>
            <a:schemeClr val="accent5">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C4F56-F51D-500A-3146-3E9D6071341C}"/>
              </a:ext>
            </a:extLst>
          </p:cNvPr>
          <p:cNvSpPr>
            <a:spLocks noGrp="1"/>
          </p:cNvSpPr>
          <p:nvPr>
            <p:ph type="title"/>
          </p:nvPr>
        </p:nvSpPr>
        <p:spPr/>
        <p:txBody>
          <a:bodyPr/>
          <a:lstStyle/>
          <a:p>
            <a:r>
              <a:rPr lang="en-US" dirty="0">
                <a:effectLst>
                  <a:reflection blurRad="12700" stA="20000" endPos="30000" dist="12700" dir="5400000" sy="-100000" algn="bl" rotWithShape="0"/>
                </a:effectLst>
                <a:latin typeface="Avenir Next LT Pro Light" panose="020B0304020202020204" pitchFamily="34" charset="0"/>
              </a:rPr>
              <a:t>References</a:t>
            </a:r>
          </a:p>
        </p:txBody>
      </p:sp>
      <p:sp>
        <p:nvSpPr>
          <p:cNvPr id="3" name="Content Placeholder 2">
            <a:extLst>
              <a:ext uri="{FF2B5EF4-FFF2-40B4-BE49-F238E27FC236}">
                <a16:creationId xmlns:a16="http://schemas.microsoft.com/office/drawing/2014/main" id="{7332C2CE-6C9C-E656-F1DF-6EE641577210}"/>
              </a:ext>
            </a:extLst>
          </p:cNvPr>
          <p:cNvSpPr>
            <a:spLocks noGrp="1"/>
          </p:cNvSpPr>
          <p:nvPr>
            <p:ph idx="1"/>
          </p:nvPr>
        </p:nvSpPr>
        <p:spPr>
          <a:xfrm>
            <a:off x="838200" y="1825624"/>
            <a:ext cx="6385560" cy="5032375"/>
          </a:xfrm>
        </p:spPr>
        <p:txBody>
          <a:bodyPr>
            <a:normAutofit fontScale="77500" lnSpcReduction="20000"/>
          </a:bodyPr>
          <a:lstStyle/>
          <a:p>
            <a:pPr marL="457200" marR="0" indent="-457200">
              <a:lnSpc>
                <a:spcPct val="200000"/>
              </a:lnSpc>
              <a:buNone/>
            </a:pPr>
            <a:r>
              <a:rPr lang="en-US" sz="1400" dirty="0">
                <a:effectLst/>
                <a:latin typeface="Times New Roman" panose="02020603050405020304" pitchFamily="18" charset="0"/>
                <a:ea typeface="Times New Roman" panose="02020603050405020304" pitchFamily="18" charset="0"/>
              </a:rPr>
              <a:t>Adobe Communications Team. (2025, October 14). </a:t>
            </a:r>
            <a:r>
              <a:rPr lang="en-US" sz="1400" i="1" dirty="0">
                <a:effectLst/>
                <a:latin typeface="Times New Roman" panose="02020603050405020304" pitchFamily="18" charset="0"/>
                <a:ea typeface="Times New Roman" panose="02020603050405020304" pitchFamily="18" charset="0"/>
              </a:rPr>
              <a:t>Agile vs. Waterfall — from software development to project management.</a:t>
            </a:r>
            <a:r>
              <a:rPr lang="en-US" sz="1400" dirty="0">
                <a:effectLst/>
                <a:latin typeface="Times New Roman" panose="02020603050405020304" pitchFamily="18" charset="0"/>
                <a:ea typeface="Times New Roman" panose="02020603050405020304" pitchFamily="18" charset="0"/>
              </a:rPr>
              <a:t> Adobe. Retrieved February 19, 2026, from https://business.adobe.com/blog/basics/agile-vs-waterfall-project-management</a:t>
            </a:r>
          </a:p>
          <a:p>
            <a:pPr marL="457200" marR="0" indent="-457200">
              <a:lnSpc>
                <a:spcPct val="200000"/>
              </a:lnSpc>
              <a:buNone/>
            </a:pPr>
            <a:r>
              <a:rPr lang="en-US" sz="1400" dirty="0">
                <a:effectLst/>
                <a:latin typeface="Times New Roman" panose="02020603050405020304" pitchFamily="18" charset="0"/>
                <a:ea typeface="Times New Roman" panose="02020603050405020304" pitchFamily="18" charset="0"/>
              </a:rPr>
              <a:t>Coursera Staff. (2025a, June 17). </a:t>
            </a:r>
            <a:r>
              <a:rPr lang="en-US" sz="1400" i="1" dirty="0">
                <a:effectLst/>
                <a:latin typeface="Times New Roman" panose="02020603050405020304" pitchFamily="18" charset="0"/>
                <a:ea typeface="Times New Roman" panose="02020603050405020304" pitchFamily="18" charset="0"/>
              </a:rPr>
              <a:t>The 3 Scrum Roles and Responsibilities Explained</a:t>
            </a:r>
            <a:r>
              <a:rPr lang="en-US" sz="1400" dirty="0">
                <a:effectLst/>
                <a:latin typeface="Times New Roman" panose="02020603050405020304" pitchFamily="18" charset="0"/>
                <a:ea typeface="Times New Roman" panose="02020603050405020304" pitchFamily="18" charset="0"/>
              </a:rPr>
              <a:t>. Coursera. Retrieved February 19, 2026, from https://www.coursera.org/articles/scrum-roles-and-responsibilities</a:t>
            </a:r>
          </a:p>
          <a:p>
            <a:pPr marL="457200" marR="0" indent="-457200">
              <a:lnSpc>
                <a:spcPct val="200000"/>
              </a:lnSpc>
              <a:buNone/>
            </a:pPr>
            <a:r>
              <a:rPr lang="en-US" sz="1400" dirty="0">
                <a:effectLst/>
                <a:latin typeface="Times New Roman" panose="02020603050405020304" pitchFamily="18" charset="0"/>
                <a:ea typeface="Times New Roman" panose="02020603050405020304" pitchFamily="18" charset="0"/>
              </a:rPr>
              <a:t>Coursera Staff. (2025b, December 9). </a:t>
            </a:r>
            <a:r>
              <a:rPr lang="en-US" sz="1400" i="1" dirty="0">
                <a:effectLst/>
                <a:latin typeface="Times New Roman" panose="02020603050405020304" pitchFamily="18" charset="0"/>
                <a:ea typeface="Times New Roman" panose="02020603050405020304" pitchFamily="18" charset="0"/>
              </a:rPr>
              <a:t>What Is a QA Tester? Skills, Requirements, and Jobs in 2026</a:t>
            </a:r>
            <a:r>
              <a:rPr lang="en-US" sz="1400" dirty="0">
                <a:effectLst/>
                <a:latin typeface="Times New Roman" panose="02020603050405020304" pitchFamily="18" charset="0"/>
                <a:ea typeface="Times New Roman" panose="02020603050405020304" pitchFamily="18" charset="0"/>
              </a:rPr>
              <a:t>. Coursera. Retrieved February 19, 2026, from https://www.coursera.org/articles/qa-tester</a:t>
            </a:r>
          </a:p>
          <a:p>
            <a:pPr marL="457200" marR="0" indent="-457200">
              <a:lnSpc>
                <a:spcPct val="200000"/>
              </a:lnSpc>
              <a:buNone/>
            </a:pPr>
            <a:r>
              <a:rPr lang="en-US" sz="1400" dirty="0">
                <a:effectLst/>
                <a:latin typeface="Times New Roman" panose="02020603050405020304" pitchFamily="18" charset="0"/>
                <a:ea typeface="Times New Roman" panose="02020603050405020304" pitchFamily="18" charset="0"/>
              </a:rPr>
              <a:t>Hartshorne, D. (2025, October 15). </a:t>
            </a:r>
            <a:r>
              <a:rPr lang="en-US" sz="1400" i="1" dirty="0">
                <a:effectLst/>
                <a:latin typeface="Times New Roman" panose="02020603050405020304" pitchFamily="18" charset="0"/>
                <a:ea typeface="Times New Roman" panose="02020603050405020304" pitchFamily="18" charset="0"/>
              </a:rPr>
              <a:t>The Agile software development life cycle explained: a comprehensive guide</a:t>
            </a:r>
            <a:r>
              <a:rPr lang="en-US" sz="1400" dirty="0">
                <a:effectLst/>
                <a:latin typeface="Times New Roman" panose="02020603050405020304" pitchFamily="18" charset="0"/>
                <a:ea typeface="Times New Roman" panose="02020603050405020304" pitchFamily="18" charset="0"/>
              </a:rPr>
              <a:t>. monday.com Blog. Retrieved February 19, 2026, from https://monday.com/blog/rnd/agile-sdlc/</a:t>
            </a:r>
          </a:p>
          <a:p>
            <a:pPr marL="457200" marR="0" indent="-457200">
              <a:lnSpc>
                <a:spcPct val="200000"/>
              </a:lnSpc>
              <a:buNone/>
            </a:pPr>
            <a:r>
              <a:rPr lang="en-US" sz="1400" dirty="0">
                <a:effectLst/>
                <a:latin typeface="Times New Roman" panose="02020603050405020304" pitchFamily="18" charset="0"/>
                <a:ea typeface="Times New Roman" panose="02020603050405020304" pitchFamily="18" charset="0"/>
              </a:rPr>
              <a:t>Nguyen, A. (2024, March 21). </a:t>
            </a:r>
            <a:r>
              <a:rPr lang="en-US" sz="1400" i="1" dirty="0">
                <a:effectLst/>
                <a:latin typeface="Times New Roman" panose="02020603050405020304" pitchFamily="18" charset="0"/>
                <a:ea typeface="Times New Roman" panose="02020603050405020304" pitchFamily="18" charset="0"/>
              </a:rPr>
              <a:t>The Agile Software Development Life Cycle: Essential Stages &amp; Comprehensive Guide</a:t>
            </a:r>
            <a:r>
              <a:rPr lang="en-US" sz="1400" dirty="0">
                <a:effectLst/>
                <a:latin typeface="Times New Roman" panose="02020603050405020304" pitchFamily="18" charset="0"/>
                <a:ea typeface="Times New Roman" panose="02020603050405020304" pitchFamily="18" charset="0"/>
              </a:rPr>
              <a:t>. LTS Group. Retrieved February 19, 2026, from https://ltsgroup.tech/blog/agile-software-development-life-cycle/</a:t>
            </a:r>
          </a:p>
          <a:p>
            <a:pPr marL="0" indent="0">
              <a:buNone/>
            </a:pPr>
            <a:endParaRPr lang="en-US" sz="1000" dirty="0"/>
          </a:p>
        </p:txBody>
      </p:sp>
      <p:grpSp>
        <p:nvGrpSpPr>
          <p:cNvPr id="4" name="Group 3">
            <a:extLst>
              <a:ext uri="{FF2B5EF4-FFF2-40B4-BE49-F238E27FC236}">
                <a16:creationId xmlns:a16="http://schemas.microsoft.com/office/drawing/2014/main" id="{545B14D8-D198-7FD4-1DA2-E1B48449D939}"/>
              </a:ext>
            </a:extLst>
          </p:cNvPr>
          <p:cNvGrpSpPr/>
          <p:nvPr/>
        </p:nvGrpSpPr>
        <p:grpSpPr>
          <a:xfrm>
            <a:off x="0" y="1437956"/>
            <a:ext cx="10474960" cy="92075"/>
            <a:chOff x="0" y="3509963"/>
            <a:chExt cx="10474960" cy="92075"/>
          </a:xfrm>
        </p:grpSpPr>
        <p:cxnSp>
          <p:nvCxnSpPr>
            <p:cNvPr id="5" name="Straight Connector 4">
              <a:extLst>
                <a:ext uri="{FF2B5EF4-FFF2-40B4-BE49-F238E27FC236}">
                  <a16:creationId xmlns:a16="http://schemas.microsoft.com/office/drawing/2014/main" id="{E0935EAD-32AF-6B0B-D00A-EF681C1D3914}"/>
                </a:ext>
              </a:extLst>
            </p:cNvPr>
            <p:cNvCxnSpPr/>
            <p:nvPr/>
          </p:nvCxnSpPr>
          <p:spPr>
            <a:xfrm>
              <a:off x="0" y="3602038"/>
              <a:ext cx="10104120" cy="0"/>
            </a:xfrm>
            <a:prstGeom prst="line">
              <a:avLst/>
            </a:prstGeom>
            <a:ln w="2540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E4B73451-3F1A-D894-8424-0DC1BEA1928E}"/>
                </a:ext>
              </a:extLst>
            </p:cNvPr>
            <p:cNvCxnSpPr/>
            <p:nvPr/>
          </p:nvCxnSpPr>
          <p:spPr>
            <a:xfrm>
              <a:off x="167640" y="3509963"/>
              <a:ext cx="10104120" cy="0"/>
            </a:xfrm>
            <a:prstGeom prst="line">
              <a:avLst/>
            </a:prstGeom>
            <a:ln w="254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5ED1623-1E1B-D715-42D9-7E93AB59B9D4}"/>
                </a:ext>
              </a:extLst>
            </p:cNvPr>
            <p:cNvCxnSpPr/>
            <p:nvPr/>
          </p:nvCxnSpPr>
          <p:spPr>
            <a:xfrm>
              <a:off x="370840" y="3556318"/>
              <a:ext cx="10104120" cy="0"/>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FF517EDC-DDE0-03FB-9234-5B8BFD5C4FF2}"/>
              </a:ext>
            </a:extLst>
          </p:cNvPr>
          <p:cNvGrpSpPr/>
          <p:nvPr/>
        </p:nvGrpSpPr>
        <p:grpSpPr>
          <a:xfrm rot="16200000">
            <a:off x="6568440" y="1234440"/>
            <a:ext cx="6858000" cy="4389120"/>
            <a:chOff x="0" y="2468880"/>
            <a:chExt cx="11506200" cy="4389120"/>
          </a:xfrm>
        </p:grpSpPr>
        <p:grpSp>
          <p:nvGrpSpPr>
            <p:cNvPr id="11" name="Group 10">
              <a:extLst>
                <a:ext uri="{FF2B5EF4-FFF2-40B4-BE49-F238E27FC236}">
                  <a16:creationId xmlns:a16="http://schemas.microsoft.com/office/drawing/2014/main" id="{E1415482-38BD-F165-0E02-08305ABC768D}"/>
                </a:ext>
              </a:extLst>
            </p:cNvPr>
            <p:cNvGrpSpPr/>
            <p:nvPr/>
          </p:nvGrpSpPr>
          <p:grpSpPr>
            <a:xfrm>
              <a:off x="0" y="2468880"/>
              <a:ext cx="10474960" cy="2479039"/>
              <a:chOff x="213360" y="556576"/>
              <a:chExt cx="2458720" cy="2158683"/>
            </a:xfrm>
          </p:grpSpPr>
          <p:sp>
            <p:nvSpPr>
              <p:cNvPr id="16" name="Frame 15">
                <a:extLst>
                  <a:ext uri="{FF2B5EF4-FFF2-40B4-BE49-F238E27FC236}">
                    <a16:creationId xmlns:a16="http://schemas.microsoft.com/office/drawing/2014/main" id="{7C98D34D-77CF-2C6D-6725-AA782A5B557F}"/>
                  </a:ext>
                </a:extLst>
              </p:cNvPr>
              <p:cNvSpPr/>
              <p:nvPr/>
            </p:nvSpPr>
            <p:spPr>
              <a:xfrm>
                <a:off x="2286000" y="1796093"/>
                <a:ext cx="386080" cy="406399"/>
              </a:xfrm>
              <a:prstGeom prst="frame">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Frame 16">
                <a:extLst>
                  <a:ext uri="{FF2B5EF4-FFF2-40B4-BE49-F238E27FC236}">
                    <a16:creationId xmlns:a16="http://schemas.microsoft.com/office/drawing/2014/main" id="{9F066ED6-894C-F3C1-FA3B-A7A8211C9017}"/>
                  </a:ext>
                </a:extLst>
              </p:cNvPr>
              <p:cNvSpPr/>
              <p:nvPr/>
            </p:nvSpPr>
            <p:spPr>
              <a:xfrm>
                <a:off x="1935480" y="2035882"/>
                <a:ext cx="518160" cy="425294"/>
              </a:xfrm>
              <a:prstGeom prst="frame">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Frame 17">
                <a:extLst>
                  <a:ext uri="{FF2B5EF4-FFF2-40B4-BE49-F238E27FC236}">
                    <a16:creationId xmlns:a16="http://schemas.microsoft.com/office/drawing/2014/main" id="{681934F2-4351-525A-DB06-A6C53A5BD0F9}"/>
                  </a:ext>
                </a:extLst>
              </p:cNvPr>
              <p:cNvSpPr/>
              <p:nvPr/>
            </p:nvSpPr>
            <p:spPr>
              <a:xfrm>
                <a:off x="213360" y="556576"/>
                <a:ext cx="1489302" cy="1645916"/>
              </a:xfrm>
              <a:prstGeom prst="fram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9" name="Frame 18">
                <a:extLst>
                  <a:ext uri="{FF2B5EF4-FFF2-40B4-BE49-F238E27FC236}">
                    <a16:creationId xmlns:a16="http://schemas.microsoft.com/office/drawing/2014/main" id="{F8359297-7462-1B7C-DEAB-6C1F470A8E36}"/>
                  </a:ext>
                </a:extLst>
              </p:cNvPr>
              <p:cNvSpPr/>
              <p:nvPr/>
            </p:nvSpPr>
            <p:spPr>
              <a:xfrm>
                <a:off x="889000" y="1587500"/>
                <a:ext cx="1148080" cy="1127759"/>
              </a:xfrm>
              <a:prstGeom prst="fram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 name="Frame 19">
                <a:extLst>
                  <a:ext uri="{FF2B5EF4-FFF2-40B4-BE49-F238E27FC236}">
                    <a16:creationId xmlns:a16="http://schemas.microsoft.com/office/drawing/2014/main" id="{F8EBBE4F-D25A-45B8-91F4-F5D518771FD4}"/>
                  </a:ext>
                </a:extLst>
              </p:cNvPr>
              <p:cNvSpPr/>
              <p:nvPr/>
            </p:nvSpPr>
            <p:spPr>
              <a:xfrm>
                <a:off x="731520" y="1351280"/>
                <a:ext cx="670560" cy="1127759"/>
              </a:xfrm>
              <a:prstGeom prst="fram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12" name="Rectangle 11">
              <a:extLst>
                <a:ext uri="{FF2B5EF4-FFF2-40B4-BE49-F238E27FC236}">
                  <a16:creationId xmlns:a16="http://schemas.microsoft.com/office/drawing/2014/main" id="{11A75A94-D05A-9C56-2696-17F75C02D1D9}"/>
                </a:ext>
              </a:extLst>
            </p:cNvPr>
            <p:cNvSpPr/>
            <p:nvPr/>
          </p:nvSpPr>
          <p:spPr>
            <a:xfrm>
              <a:off x="0" y="3606802"/>
              <a:ext cx="11506200" cy="3251198"/>
            </a:xfrm>
            <a:prstGeom prst="rect">
              <a:avLst/>
            </a:prstGeom>
            <a:solidFill>
              <a:schemeClr val="accent2">
                <a:lumMod val="20000"/>
                <a:lumOff val="80000"/>
                <a:alpha val="45000"/>
              </a:schemeClr>
            </a:solidFill>
            <a:ln>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4917087E-7498-7CBB-F26F-77F609000AF8}"/>
                </a:ext>
              </a:extLst>
            </p:cNvPr>
            <p:cNvCxnSpPr/>
            <p:nvPr/>
          </p:nvCxnSpPr>
          <p:spPr>
            <a:xfrm>
              <a:off x="0" y="3602038"/>
              <a:ext cx="10104120" cy="0"/>
            </a:xfrm>
            <a:prstGeom prst="line">
              <a:avLst/>
            </a:prstGeom>
            <a:ln w="2540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9B88E54-0871-9C8C-062B-F42FC49E9029}"/>
                </a:ext>
              </a:extLst>
            </p:cNvPr>
            <p:cNvCxnSpPr/>
            <p:nvPr/>
          </p:nvCxnSpPr>
          <p:spPr>
            <a:xfrm>
              <a:off x="167640" y="3509963"/>
              <a:ext cx="10104120" cy="0"/>
            </a:xfrm>
            <a:prstGeom prst="line">
              <a:avLst/>
            </a:prstGeom>
            <a:ln w="254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C44D9B0-4E41-A2F0-3F72-613496937BC3}"/>
                </a:ext>
              </a:extLst>
            </p:cNvPr>
            <p:cNvCxnSpPr/>
            <p:nvPr/>
          </p:nvCxnSpPr>
          <p:spPr>
            <a:xfrm>
              <a:off x="370840" y="3556318"/>
              <a:ext cx="10104120" cy="0"/>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47261681"/>
      </p:ext>
    </p:extLst>
  </p:cSld>
  <p:clrMapOvr>
    <a:masterClrMapping/>
  </p:clrMapOvr>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635</TotalTime>
  <Words>1625</Words>
  <Application>Microsoft Office PowerPoint</Application>
  <PresentationFormat>Widescreen</PresentationFormat>
  <Paragraphs>109</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Agency FB</vt:lpstr>
      <vt:lpstr>Arial</vt:lpstr>
      <vt:lpstr>Avenir Next LT Pro Light</vt:lpstr>
      <vt:lpstr>Calibri</vt:lpstr>
      <vt:lpstr>Calibri Light</vt:lpstr>
      <vt:lpstr>Times New Roman</vt:lpstr>
      <vt:lpstr>Office Theme</vt:lpstr>
      <vt:lpstr>Agile Presentation</vt:lpstr>
      <vt:lpstr>Agile Roles</vt:lpstr>
      <vt:lpstr>Agile Roles</vt:lpstr>
      <vt:lpstr>Agile Roles</vt:lpstr>
      <vt:lpstr>Agile Roles</vt:lpstr>
      <vt:lpstr>Agile Phases</vt:lpstr>
      <vt:lpstr>Agile Phases</vt:lpstr>
      <vt:lpstr>Agile Phases</vt:lpstr>
      <vt:lpstr>Agile Phases</vt:lpstr>
      <vt:lpstr>Using Waterfall Model VS. Agile</vt:lpstr>
      <vt:lpstr>Using Waterfall Model VS. Agile</vt:lpstr>
      <vt:lpstr>When should you use a Waterfall or Agile Approach?</vt:lpstr>
      <vt:lpstr>When should you use a Waterfall or Agile Approach?</vt:lpstr>
      <vt:lpstr>When should you use a Waterfall or Agile Approach?</vt:lpstr>
      <vt:lpstr>When should you use a Waterfall or Agile Approach?</vt:lpstr>
      <vt:lpstr>When should you use a Waterfall or Agile Approach?</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Minna Bohl</dc:creator>
  <cp:lastModifiedBy>Minna Bohl</cp:lastModifiedBy>
  <cp:revision>30</cp:revision>
  <dcterms:created xsi:type="dcterms:W3CDTF">2026-02-16T16:59:04Z</dcterms:created>
  <dcterms:modified xsi:type="dcterms:W3CDTF">2026-02-21T17:02:14Z</dcterms:modified>
</cp:coreProperties>
</file>